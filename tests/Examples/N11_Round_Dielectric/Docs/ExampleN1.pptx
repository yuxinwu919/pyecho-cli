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304" r:id="rId4"/>
    <p:sldId id="305" r:id="rId5"/>
    <p:sldId id="306" r:id="rId6"/>
    <p:sldId id="307" r:id="rId7"/>
    <p:sldId id="308" r:id="rId8"/>
    <p:sldId id="30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3186" autoAdjust="0"/>
  </p:normalViewPr>
  <p:slideViewPr>
    <p:cSldViewPr>
      <p:cViewPr varScale="1">
        <p:scale>
          <a:sx n="67" d="100"/>
          <a:sy n="67" d="100"/>
        </p:scale>
        <p:origin x="-480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1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4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17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5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0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9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9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11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5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1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C1FEF-F6B6-4932-A45B-3875FED27853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26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628800"/>
            <a:ext cx="7772400" cy="1470025"/>
          </a:xfrm>
        </p:spPr>
        <p:txBody>
          <a:bodyPr/>
          <a:lstStyle/>
          <a:p>
            <a:r>
              <a:rPr lang="en-US" dirty="0" smtClean="0"/>
              <a:t>Round pipe with dielectric layer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Igor</a:t>
            </a:r>
            <a:r>
              <a:rPr lang="de-DE" dirty="0" smtClean="0"/>
              <a:t> Zagorodnov</a:t>
            </a:r>
          </a:p>
          <a:p>
            <a:r>
              <a:rPr lang="de-DE" dirty="0" smtClean="0"/>
              <a:t>24 </a:t>
            </a:r>
            <a:r>
              <a:rPr lang="en-US" dirty="0" smtClean="0"/>
              <a:t>May</a:t>
            </a:r>
            <a:r>
              <a:rPr lang="de-DE" dirty="0" smtClean="0"/>
              <a:t>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07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143000"/>
          </a:xfrm>
        </p:spPr>
        <p:txBody>
          <a:bodyPr/>
          <a:lstStyle/>
          <a:p>
            <a:r>
              <a:rPr lang="en-US" dirty="0" smtClean="0"/>
              <a:t>1. Geometry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539552" y="1588150"/>
            <a:ext cx="8058606" cy="3650342"/>
            <a:chOff x="539552" y="1588150"/>
            <a:chExt cx="8058606" cy="3650342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1043608" y="4881344"/>
              <a:ext cx="727280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1029610" y="1772816"/>
              <a:ext cx="0" cy="31085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8244408" y="4869160"/>
                  <a:ext cx="3537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4408" y="4869160"/>
                  <a:ext cx="353750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539552" y="1588150"/>
                  <a:ext cx="3516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/>
                          </a:rPr>
                          <m:t>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552" y="1588150"/>
                  <a:ext cx="351635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/>
            <p:cNvSpPr/>
            <p:nvPr/>
          </p:nvSpPr>
          <p:spPr>
            <a:xfrm>
              <a:off x="1043608" y="2996952"/>
              <a:ext cx="5990662" cy="8640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3260168" y="3156466"/>
                  <a:ext cx="1557542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𝜀</m:t>
                        </m:r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=11, </m:t>
                        </m:r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𝜇</m:t>
                        </m:r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=1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0168" y="3156466"/>
                  <a:ext cx="1557542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7092280" y="3676382"/>
                  <a:ext cx="12185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latin typeface="Cambria Math"/>
                        </a:rPr>
                        <m:t>=5</m:t>
                      </m:r>
                    </m:oMath>
                  </a14:m>
                  <a:r>
                    <a:rPr lang="en-US" dirty="0" smtClean="0"/>
                    <a:t>mm</a:t>
                  </a:r>
                  <a:endParaRPr lang="en-US" dirty="0"/>
                </a:p>
              </p:txBody>
            </p:sp>
          </mc:Choice>
          <mc:Fallback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2280" y="3676382"/>
                  <a:ext cx="1218539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35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7096210" y="2812286"/>
                  <a:ext cx="12548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/>
                        </a:rPr>
                        <m:t>=</m:t>
                      </m:r>
                    </m:oMath>
                  </a14:m>
                  <a:r>
                    <a:rPr lang="en-US" dirty="0" smtClean="0"/>
                    <a:t>10mm</a:t>
                  </a:r>
                  <a:endParaRPr lang="en-US" dirty="0"/>
                </a:p>
              </p:txBody>
            </p:sp>
          </mc:Choice>
          <mc:Fallback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6210" y="2812286"/>
                  <a:ext cx="1254895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339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Rectangle 18"/>
          <p:cNvSpPr/>
          <p:nvPr/>
        </p:nvSpPr>
        <p:spPr>
          <a:xfrm>
            <a:off x="467544" y="5065504"/>
            <a:ext cx="84249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The simulations are done in frequency domain.</a:t>
            </a:r>
          </a:p>
          <a:p>
            <a:r>
              <a:rPr lang="en-US" sz="2000" dirty="0" smtClean="0"/>
              <a:t>The Gaussian bunch has RMS 250µm.</a:t>
            </a:r>
          </a:p>
        </p:txBody>
      </p:sp>
    </p:spTree>
    <p:extLst>
      <p:ext uri="{BB962C8B-B14F-4D97-AF65-F5344CB8AC3E}">
        <p14:creationId xmlns:p14="http://schemas.microsoft.com/office/powerpoint/2010/main" val="14933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143000"/>
          </a:xfrm>
        </p:spPr>
        <p:txBody>
          <a:bodyPr/>
          <a:lstStyle/>
          <a:p>
            <a:r>
              <a:rPr lang="en-US" dirty="0"/>
              <a:t>2</a:t>
            </a:r>
            <a:r>
              <a:rPr lang="en-US" dirty="0" smtClean="0"/>
              <a:t>. ECHO1D setup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23528" y="1124744"/>
            <a:ext cx="84249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1. The setup is in directory ECHO1D. We use conductivity 1 S/m to resolve the spikes in real part of the impedance.</a:t>
            </a:r>
          </a:p>
          <a:p>
            <a:r>
              <a:rPr lang="en-US" sz="1600" dirty="0" smtClean="0"/>
              <a:t>2. The geometry is described in file “Example1.txt”</a:t>
            </a:r>
          </a:p>
          <a:p>
            <a:endParaRPr lang="en-US" sz="1600" dirty="0" smtClean="0"/>
          </a:p>
          <a:p>
            <a:r>
              <a:rPr lang="en-US" sz="1600" dirty="0"/>
              <a:t>% Nm - Number of  layers</a:t>
            </a:r>
          </a:p>
          <a:p>
            <a:r>
              <a:rPr lang="en-US" sz="1600" dirty="0"/>
              <a:t>1</a:t>
            </a:r>
          </a:p>
          <a:p>
            <a:r>
              <a:rPr lang="en-US" sz="1600" dirty="0"/>
              <a:t>% boundaries </a:t>
            </a:r>
          </a:p>
          <a:p>
            <a:r>
              <a:rPr lang="en-US" sz="1600" dirty="0"/>
              <a:t>5e-3  	10e-3</a:t>
            </a:r>
          </a:p>
          <a:p>
            <a:r>
              <a:rPr lang="en-US" sz="1600" dirty="0"/>
              <a:t>% Re(</a:t>
            </a:r>
            <a:r>
              <a:rPr lang="en-US" sz="1600" dirty="0" err="1"/>
              <a:t>EpsR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</a:t>
            </a:r>
            <a:r>
              <a:rPr lang="en-US" sz="1600" dirty="0" err="1"/>
              <a:t>Im</a:t>
            </a:r>
            <a:r>
              <a:rPr lang="en-US" sz="1600" dirty="0"/>
              <a:t>(</a:t>
            </a:r>
            <a:r>
              <a:rPr lang="en-US" sz="1600" dirty="0" err="1"/>
              <a:t>EpsR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Re(</a:t>
            </a:r>
            <a:r>
              <a:rPr lang="en-US" sz="1600" dirty="0" err="1"/>
              <a:t>EpsFi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</a:t>
            </a:r>
            <a:r>
              <a:rPr lang="en-US" sz="1600" dirty="0" err="1"/>
              <a:t>Im</a:t>
            </a:r>
            <a:r>
              <a:rPr lang="en-US" sz="1600" dirty="0"/>
              <a:t>(</a:t>
            </a:r>
            <a:r>
              <a:rPr lang="en-US" sz="1600" dirty="0" err="1"/>
              <a:t>EpsFI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Re(</a:t>
            </a:r>
            <a:r>
              <a:rPr lang="en-US" sz="1600" dirty="0" err="1"/>
              <a:t>EpsZ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</a:t>
            </a:r>
            <a:r>
              <a:rPr lang="en-US" sz="1600" dirty="0" err="1"/>
              <a:t>Im</a:t>
            </a:r>
            <a:r>
              <a:rPr lang="en-US" sz="1600" dirty="0"/>
              <a:t>(</a:t>
            </a:r>
            <a:r>
              <a:rPr lang="en-US" sz="1600" dirty="0" err="1"/>
              <a:t>EpsZ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]), </a:t>
            </a:r>
            <a:r>
              <a:rPr lang="en-US" sz="1600" dirty="0" err="1"/>
              <a:t>i</a:t>
            </a:r>
            <a:r>
              <a:rPr lang="en-US" sz="1600" dirty="0"/>
              <a:t>=1,Nm</a:t>
            </a:r>
          </a:p>
          <a:p>
            <a:r>
              <a:rPr lang="en-US" sz="1600" dirty="0"/>
              <a:t>11 	0 	11 	0 	11 	0         </a:t>
            </a:r>
          </a:p>
          <a:p>
            <a:r>
              <a:rPr lang="en-US" sz="1600" dirty="0"/>
              <a:t>% Re(</a:t>
            </a:r>
            <a:r>
              <a:rPr lang="en-US" sz="1600" dirty="0" err="1"/>
              <a:t>MueR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</a:t>
            </a:r>
            <a:r>
              <a:rPr lang="en-US" sz="1600" dirty="0" err="1"/>
              <a:t>Im</a:t>
            </a:r>
            <a:r>
              <a:rPr lang="en-US" sz="1600" dirty="0"/>
              <a:t>(</a:t>
            </a:r>
            <a:r>
              <a:rPr lang="en-US" sz="1600" dirty="0" err="1"/>
              <a:t>MueR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Re(</a:t>
            </a:r>
            <a:r>
              <a:rPr lang="en-US" sz="1600" dirty="0" err="1"/>
              <a:t>MueFi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</a:t>
            </a:r>
            <a:r>
              <a:rPr lang="en-US" sz="1600" dirty="0" err="1"/>
              <a:t>Im</a:t>
            </a:r>
            <a:r>
              <a:rPr lang="en-US" sz="1600" dirty="0"/>
              <a:t>(</a:t>
            </a:r>
            <a:r>
              <a:rPr lang="en-US" sz="1600" dirty="0" err="1"/>
              <a:t>MueFI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Re(</a:t>
            </a:r>
            <a:r>
              <a:rPr lang="en-US" sz="1600" dirty="0" err="1"/>
              <a:t>MueZ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</a:t>
            </a:r>
            <a:r>
              <a:rPr lang="en-US" sz="1600" dirty="0" err="1"/>
              <a:t>Im</a:t>
            </a:r>
            <a:r>
              <a:rPr lang="en-US" sz="1600" dirty="0"/>
              <a:t>(</a:t>
            </a:r>
            <a:r>
              <a:rPr lang="en-US" sz="1600" dirty="0" err="1"/>
              <a:t>MueZ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]), </a:t>
            </a:r>
            <a:r>
              <a:rPr lang="en-US" sz="1600" dirty="0" err="1"/>
              <a:t>i</a:t>
            </a:r>
            <a:r>
              <a:rPr lang="en-US" sz="1600" dirty="0"/>
              <a:t>=1,Nm</a:t>
            </a:r>
          </a:p>
          <a:p>
            <a:r>
              <a:rPr lang="en-US" sz="1600" dirty="0"/>
              <a:t>1 	0 	1 	0 	1 	0         </a:t>
            </a:r>
          </a:p>
          <a:p>
            <a:r>
              <a:rPr lang="en-US" sz="1600" dirty="0"/>
              <a:t>% Conductivity[</a:t>
            </a:r>
            <a:r>
              <a:rPr lang="en-US" sz="1600" dirty="0" err="1"/>
              <a:t>i</a:t>
            </a:r>
            <a:r>
              <a:rPr lang="en-US" sz="1600" dirty="0"/>
              <a:t>], Relaxation Time[</a:t>
            </a:r>
            <a:r>
              <a:rPr lang="en-US" sz="1600" dirty="0" err="1"/>
              <a:t>i</a:t>
            </a:r>
            <a:r>
              <a:rPr lang="en-US" sz="1600" dirty="0"/>
              <a:t>], </a:t>
            </a:r>
            <a:r>
              <a:rPr lang="en-US" sz="1600" dirty="0" err="1"/>
              <a:t>i</a:t>
            </a:r>
            <a:r>
              <a:rPr lang="en-US" sz="1600" dirty="0"/>
              <a:t>=1,Nm</a:t>
            </a:r>
          </a:p>
          <a:p>
            <a:r>
              <a:rPr lang="en-US" sz="1600" dirty="0"/>
              <a:t>1	0 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28766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395536" y="332656"/>
            <a:ext cx="842493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. The simulation parameters are in file “input_in.txt”. </a:t>
            </a:r>
          </a:p>
          <a:p>
            <a:endParaRPr lang="en-US" sz="1600" dirty="0"/>
          </a:p>
          <a:p>
            <a:r>
              <a:rPr lang="en-US" sz="1600" dirty="0"/>
              <a:t>%%%%%%%%%%%%%% geometry %%%%%%%%%%%%%%%%%%%%</a:t>
            </a:r>
          </a:p>
          <a:p>
            <a:r>
              <a:rPr lang="en-US" sz="1600" dirty="0" err="1"/>
              <a:t>Geometry_File</a:t>
            </a:r>
            <a:r>
              <a:rPr lang="en-US" sz="1600" dirty="0"/>
              <a:t> = Example01.txt</a:t>
            </a:r>
          </a:p>
          <a:p>
            <a:r>
              <a:rPr lang="en-US" sz="1600" dirty="0" err="1"/>
              <a:t>Boundary_Condition</a:t>
            </a:r>
            <a:r>
              <a:rPr lang="en-US" sz="1600" dirty="0"/>
              <a:t> = </a:t>
            </a:r>
            <a:r>
              <a:rPr lang="en-US" sz="1600" dirty="0" smtClean="0"/>
              <a:t>PEC 		% </a:t>
            </a:r>
            <a:r>
              <a:rPr lang="en-US" sz="1600" dirty="0"/>
              <a:t>could be </a:t>
            </a:r>
            <a:r>
              <a:rPr lang="en-US" sz="1600" dirty="0" smtClean="0"/>
              <a:t>PEC/Open </a:t>
            </a:r>
            <a:endParaRPr lang="en-US" sz="1600" dirty="0"/>
          </a:p>
          <a:p>
            <a:r>
              <a:rPr lang="en-US" sz="1600" dirty="0" err="1"/>
              <a:t>Geometry_Width</a:t>
            </a:r>
            <a:r>
              <a:rPr lang="en-US" sz="1600" dirty="0"/>
              <a:t> = </a:t>
            </a:r>
            <a:r>
              <a:rPr lang="en-US" sz="1600" dirty="0" smtClean="0"/>
              <a:t>0			% 0 means round geometry	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%%%%%%%%%%%%%% beam %%%%%%%%%%%%%%%%%%%%</a:t>
            </a:r>
          </a:p>
          <a:p>
            <a:r>
              <a:rPr lang="en-US" sz="1600" dirty="0"/>
              <a:t>Gamma = 1000</a:t>
            </a:r>
          </a:p>
          <a:p>
            <a:endParaRPr lang="en-US" sz="1600" dirty="0"/>
          </a:p>
          <a:p>
            <a:r>
              <a:rPr lang="en-US" sz="1600" dirty="0"/>
              <a:t>%%%%%%%%%%%%%% Model %%%%%%%%%%%%%%%%%%%%</a:t>
            </a:r>
          </a:p>
          <a:p>
            <a:r>
              <a:rPr lang="en-US" sz="1600" dirty="0"/>
              <a:t>Method = </a:t>
            </a:r>
            <a:r>
              <a:rPr lang="en-US" sz="1600" dirty="0" smtClean="0"/>
              <a:t>FM			</a:t>
            </a:r>
            <a:r>
              <a:rPr lang="en-US" sz="1600" dirty="0"/>
              <a:t>% </a:t>
            </a:r>
            <a:r>
              <a:rPr lang="en-US" sz="1600" dirty="0" smtClean="0"/>
              <a:t>could be FM/FD/Mix	</a:t>
            </a:r>
            <a:endParaRPr lang="en-US" sz="1600" dirty="0"/>
          </a:p>
          <a:p>
            <a:r>
              <a:rPr lang="en-US" sz="1600" dirty="0" err="1"/>
              <a:t>Steps_on_Wavelength</a:t>
            </a:r>
            <a:r>
              <a:rPr lang="en-US" sz="1600" dirty="0"/>
              <a:t> = </a:t>
            </a:r>
            <a:r>
              <a:rPr lang="en-US" sz="1600" dirty="0" smtClean="0"/>
              <a:t>100		</a:t>
            </a:r>
            <a:r>
              <a:rPr lang="en-US" sz="1600" dirty="0"/>
              <a:t> % </a:t>
            </a:r>
            <a:r>
              <a:rPr lang="en-US" sz="1600" dirty="0" smtClean="0"/>
              <a:t>only for FD/Mix methods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%%%%%%%%%%%%%% output %%%%%%%%%%%%%%%%%%%%</a:t>
            </a:r>
          </a:p>
          <a:p>
            <a:r>
              <a:rPr lang="en-US" sz="1600" dirty="0"/>
              <a:t>Modes = 0 1</a:t>
            </a:r>
          </a:p>
          <a:p>
            <a:r>
              <a:rPr lang="en-US" sz="1600" dirty="0"/>
              <a:t>Wavenumbers = 1 20000 </a:t>
            </a:r>
            <a:r>
              <a:rPr lang="en-US" sz="1600" dirty="0" smtClean="0"/>
              <a:t>0.25      		% the last number is sampling step</a:t>
            </a:r>
          </a:p>
          <a:p>
            <a:endParaRPr lang="en-US" sz="1600" dirty="0"/>
          </a:p>
          <a:p>
            <a:r>
              <a:rPr lang="en-US" sz="1600" dirty="0" smtClean="0"/>
              <a:t>4. Executable is “ECHO1D.exe”. It calculates impedances.</a:t>
            </a:r>
            <a:endParaRPr lang="en-US" sz="1600" dirty="0"/>
          </a:p>
          <a:p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3742422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395536" y="332656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5. After simulation is done go </a:t>
            </a:r>
            <a:r>
              <a:rPr lang="en-US" sz="1600" dirty="0"/>
              <a:t>to directory </a:t>
            </a:r>
            <a:r>
              <a:rPr lang="en-US" sz="1600" dirty="0" smtClean="0"/>
              <a:t>“PostProcessor1D\round</a:t>
            </a:r>
            <a:r>
              <a:rPr lang="en-US" sz="1600" dirty="0"/>
              <a:t>”</a:t>
            </a:r>
            <a:r>
              <a:rPr lang="en-US" sz="1600" dirty="0" smtClean="0"/>
              <a:t> </a:t>
            </a:r>
            <a:r>
              <a:rPr lang="en-US" sz="1600" dirty="0"/>
              <a:t>and run “</a:t>
            </a:r>
            <a:r>
              <a:rPr lang="en-US" sz="1600" dirty="0" err="1"/>
              <a:t>Impedance_round.m</a:t>
            </a:r>
            <a:r>
              <a:rPr lang="en-US" sz="1600" dirty="0" smtClean="0"/>
              <a:t>” in </a:t>
            </a:r>
            <a:r>
              <a:rPr lang="en-US" sz="1600" dirty="0" err="1" smtClean="0"/>
              <a:t>Matlab</a:t>
            </a:r>
            <a:r>
              <a:rPr lang="en-US" sz="1600" dirty="0" smtClean="0"/>
              <a:t>. It shows the impedances.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24744"/>
            <a:ext cx="6623414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339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395536" y="332656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6</a:t>
            </a:r>
            <a:r>
              <a:rPr lang="en-US" sz="1600" dirty="0" smtClean="0"/>
              <a:t>. Run “</a:t>
            </a:r>
            <a:r>
              <a:rPr lang="en-US" sz="1600" dirty="0" err="1" smtClean="0"/>
              <a:t>Wake_round.m</a:t>
            </a:r>
            <a:r>
              <a:rPr lang="en-US" sz="1600" dirty="0" smtClean="0"/>
              <a:t>” in </a:t>
            </a:r>
            <a:r>
              <a:rPr lang="en-US" sz="1600" dirty="0" err="1" smtClean="0"/>
              <a:t>Matlab</a:t>
            </a:r>
            <a:r>
              <a:rPr lang="en-US" sz="1600" dirty="0" smtClean="0"/>
              <a:t>. It shows the wakes for bunch with </a:t>
            </a:r>
            <a:r>
              <a:rPr lang="en-US" sz="1600" dirty="0" err="1" smtClean="0"/>
              <a:t>rms</a:t>
            </a:r>
            <a:r>
              <a:rPr lang="en-US" sz="1600" dirty="0" smtClean="0"/>
              <a:t> 250um. The bunch length can be changed in this script with edition of line “sigma=250e-6”.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052736"/>
            <a:ext cx="7055200" cy="529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143000"/>
          </a:xfrm>
        </p:spPr>
        <p:txBody>
          <a:bodyPr/>
          <a:lstStyle/>
          <a:p>
            <a:r>
              <a:rPr lang="en-US" dirty="0"/>
              <a:t>2</a:t>
            </a:r>
            <a:r>
              <a:rPr lang="en-US" dirty="0" smtClean="0"/>
              <a:t>. ECHO2D setup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23528" y="1124744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1. The setup is in directory ECHO2D.</a:t>
            </a:r>
          </a:p>
          <a:p>
            <a:r>
              <a:rPr lang="en-US" sz="1600" dirty="0" smtClean="0"/>
              <a:t>2. The simulations are done for 1 meters and 1.1 meters and subtracted to obtain “steady-state” wake.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65" y="2132856"/>
            <a:ext cx="8077200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403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395536" y="332656"/>
            <a:ext cx="84249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3. </a:t>
            </a:r>
            <a:r>
              <a:rPr lang="en-US" sz="1600" dirty="0"/>
              <a:t>Run “Compare_2D_vs_1D.m” </a:t>
            </a:r>
            <a:r>
              <a:rPr lang="en-US" sz="1600" dirty="0" smtClean="0"/>
              <a:t>in </a:t>
            </a:r>
            <a:r>
              <a:rPr lang="en-US" sz="1600" dirty="0" err="1" smtClean="0"/>
              <a:t>Matlab</a:t>
            </a:r>
            <a:r>
              <a:rPr lang="en-US" sz="1600" dirty="0" smtClean="0"/>
              <a:t> to see the comparison between ECHO1D and ECHO2D 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885800"/>
            <a:ext cx="7103370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04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Round pipe with dielectric layer</vt:lpstr>
      <vt:lpstr>1. Geometry</vt:lpstr>
      <vt:lpstr>2. ECHO1D setup</vt:lpstr>
      <vt:lpstr>PowerPoint Presentation</vt:lpstr>
      <vt:lpstr>PowerPoint Presentation</vt:lpstr>
      <vt:lpstr>PowerPoint Presentation</vt:lpstr>
      <vt:lpstr>2. ECHO2D setup</vt:lpstr>
      <vt:lpstr>PowerPoint Presentation</vt:lpstr>
    </vt:vector>
  </TitlesOfParts>
  <Company>DESY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Short ECHO Manual  for Rectangular Structures</dc:title>
  <dc:creator>Zagorodnov, Igor</dc:creator>
  <cp:lastModifiedBy>Zagorodnov, Igor</cp:lastModifiedBy>
  <cp:revision>132</cp:revision>
  <dcterms:created xsi:type="dcterms:W3CDTF">2016-04-01T12:30:18Z</dcterms:created>
  <dcterms:modified xsi:type="dcterms:W3CDTF">2018-08-05T16:08:04Z</dcterms:modified>
</cp:coreProperties>
</file>