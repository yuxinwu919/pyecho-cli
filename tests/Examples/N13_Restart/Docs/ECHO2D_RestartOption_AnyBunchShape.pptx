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8" r:id="rId4"/>
    <p:sldId id="303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4" r:id="rId16"/>
    <p:sldId id="30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>
      <p:cViewPr varScale="1">
        <p:scale>
          <a:sx n="142" d="100"/>
          <a:sy n="142" d="100"/>
        </p:scale>
        <p:origin x="1472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1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4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17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5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0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9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9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811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5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1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C1FEF-F6B6-4932-A45B-3875FED27853}" type="datetimeFigureOut">
              <a:rPr lang="en-US" smtClean="0"/>
              <a:t>4/1/20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2668-C9FE-4506-8224-417C568FB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26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Manual </a:t>
            </a:r>
            <a:br>
              <a:rPr lang="en-US" dirty="0"/>
            </a:br>
            <a:r>
              <a:rPr lang="en-US" dirty="0"/>
              <a:t>for Restart of ECHO2D and Arbitrary Bunch Shape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Igor Zagorodnov</a:t>
            </a:r>
          </a:p>
          <a:p>
            <a:r>
              <a:rPr lang="de-DE" dirty="0"/>
              <a:t>1 April 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07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143000"/>
          </a:xfrm>
        </p:spPr>
        <p:txBody>
          <a:bodyPr/>
          <a:lstStyle/>
          <a:p>
            <a:r>
              <a:rPr lang="de-DE" dirty="0"/>
              <a:t> Contents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43608" y="1124744"/>
            <a:ext cx="734481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800" dirty="0"/>
              <a:t>New Parameters.</a:t>
            </a:r>
          </a:p>
          <a:p>
            <a:pPr marL="457200" indent="-457200">
              <a:buAutoNum type="arabicPeriod"/>
            </a:pPr>
            <a:r>
              <a:rPr lang="en-US" sz="2800" dirty="0"/>
              <a:t>Restart procedure.</a:t>
            </a:r>
          </a:p>
          <a:p>
            <a:pPr marL="457200" indent="-457200">
              <a:buAutoNum type="arabicPeriod"/>
            </a:pPr>
            <a:r>
              <a:rPr lang="en-US" sz="2800" dirty="0"/>
              <a:t>Example of TESLA cavity.</a:t>
            </a:r>
          </a:p>
          <a:p>
            <a:pPr marL="457200" indent="-457200">
              <a:buAutoNum type="arabicPeriod"/>
            </a:pPr>
            <a:r>
              <a:rPr lang="en-US" sz="2800" dirty="0"/>
              <a:t>First half of the cavity.</a:t>
            </a:r>
          </a:p>
          <a:p>
            <a:pPr marL="457200" indent="-457200">
              <a:buAutoNum type="arabicPeriod"/>
            </a:pPr>
            <a:r>
              <a:rPr lang="en-US" sz="2800" dirty="0"/>
              <a:t>Restart and the second half of the cavity.</a:t>
            </a:r>
          </a:p>
          <a:p>
            <a:pPr marL="457200" indent="-457200">
              <a:buAutoNum type="arabicPeriod"/>
            </a:pPr>
            <a:r>
              <a:rPr lang="en-US" sz="2800" dirty="0"/>
              <a:t>Comparison</a:t>
            </a:r>
          </a:p>
          <a:p>
            <a:pPr marL="457200" indent="-457200">
              <a:buAutoNum type="arabicPeriod"/>
            </a:pPr>
            <a:r>
              <a:rPr lang="en-US" sz="2800" dirty="0"/>
              <a:t>Wake monitor</a:t>
            </a:r>
          </a:p>
        </p:txBody>
      </p:sp>
    </p:spTree>
    <p:extLst>
      <p:ext uri="{BB962C8B-B14F-4D97-AF65-F5344CB8AC3E}">
        <p14:creationId xmlns:p14="http://schemas.microsoft.com/office/powerpoint/2010/main" val="1129618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143000"/>
          </a:xfrm>
        </p:spPr>
        <p:txBody>
          <a:bodyPr/>
          <a:lstStyle/>
          <a:p>
            <a:r>
              <a:rPr lang="en-US" dirty="0"/>
              <a:t>1. New parameters.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5466" y="1124744"/>
            <a:ext cx="705678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/>
              <a:t>StartPosition</a:t>
            </a:r>
            <a:r>
              <a:rPr lang="en-US" sz="2000" b="1" dirty="0"/>
              <a:t> =n</a:t>
            </a:r>
          </a:p>
          <a:p>
            <a:r>
              <a:rPr lang="en-US" sz="2000" dirty="0"/>
              <a:t>Parameter n defines an initial z-position of the moving mesh. </a:t>
            </a:r>
          </a:p>
          <a:p>
            <a:r>
              <a:rPr lang="en-US" sz="2000" dirty="0"/>
              <a:t>The mesh head is placed at position n*</a:t>
            </a:r>
            <a:r>
              <a:rPr lang="en-US" sz="2000" dirty="0" err="1"/>
              <a:t>StepZ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 err="1"/>
              <a:t>InFieldDir</a:t>
            </a:r>
            <a:r>
              <a:rPr lang="en-US" sz="2000" b="1" dirty="0"/>
              <a:t>=string/-</a:t>
            </a:r>
          </a:p>
          <a:p>
            <a:r>
              <a:rPr lang="en-US" sz="2000" dirty="0"/>
              <a:t>This parameter defines the directory with initial fields.</a:t>
            </a:r>
          </a:p>
          <a:p>
            <a:endParaRPr lang="en-US" sz="2000" dirty="0"/>
          </a:p>
          <a:p>
            <a:r>
              <a:rPr lang="en-US" sz="2000" b="1" dirty="0" err="1"/>
              <a:t>DumpField</a:t>
            </a:r>
            <a:r>
              <a:rPr lang="en-US" sz="2000" b="1" dirty="0"/>
              <a:t>=0/1</a:t>
            </a:r>
          </a:p>
          <a:p>
            <a:r>
              <a:rPr lang="en-US" sz="2000" dirty="0"/>
              <a:t>This parameter defines whether the final field will be dumped (1) or not (0).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88285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229600" cy="1143000"/>
          </a:xfrm>
        </p:spPr>
        <p:txBody>
          <a:bodyPr/>
          <a:lstStyle/>
          <a:p>
            <a:r>
              <a:rPr lang="en-US" dirty="0"/>
              <a:t>2. Restart procedure.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5466" y="1124744"/>
            <a:ext cx="705678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Let us suggest that in the first step we have done </a:t>
            </a:r>
            <a:r>
              <a:rPr lang="en-US" sz="2000" b="1" dirty="0" err="1"/>
              <a:t>TimeSteps</a:t>
            </a:r>
            <a:r>
              <a:rPr lang="en-US" sz="2000" b="1" dirty="0"/>
              <a:t>=N1</a:t>
            </a:r>
            <a:r>
              <a:rPr lang="en-US" sz="2000" dirty="0"/>
              <a:t> time steps from </a:t>
            </a:r>
            <a:r>
              <a:rPr lang="en-US" sz="2000" b="1" dirty="0" err="1"/>
              <a:t>StartPosition</a:t>
            </a:r>
            <a:r>
              <a:rPr lang="en-US" sz="2000" b="1" dirty="0"/>
              <a:t>=0</a:t>
            </a:r>
            <a:r>
              <a:rPr lang="en-US" sz="2000" dirty="0"/>
              <a:t>. The parameter </a:t>
            </a:r>
            <a:r>
              <a:rPr lang="en-US" sz="2000" b="1" dirty="0" err="1"/>
              <a:t>DumpField</a:t>
            </a:r>
            <a:r>
              <a:rPr lang="en-US" sz="2000" dirty="0"/>
              <a:t> has to be 1. The dumped fields are in files “</a:t>
            </a:r>
            <a:r>
              <a:rPr lang="en-US" sz="2000" dirty="0" err="1"/>
              <a:t>Field_m.bin</a:t>
            </a:r>
            <a:r>
              <a:rPr lang="en-US" sz="2000" dirty="0"/>
              <a:t>” in directory “round”.</a:t>
            </a:r>
          </a:p>
          <a:p>
            <a:endParaRPr lang="en-US" sz="2000" dirty="0"/>
          </a:p>
          <a:p>
            <a:r>
              <a:rPr lang="en-US" sz="2000" dirty="0"/>
              <a:t>Before to restart you should create directory “</a:t>
            </a:r>
            <a:r>
              <a:rPr lang="en-US" sz="2000" dirty="0" err="1"/>
              <a:t>InField</a:t>
            </a:r>
            <a:r>
              <a:rPr lang="en-US" sz="2000" dirty="0"/>
              <a:t>” and place the dumped  filed files “</a:t>
            </a:r>
            <a:r>
              <a:rPr lang="en-US" sz="2000" dirty="0" err="1"/>
              <a:t>Field_m.bin</a:t>
            </a:r>
            <a:r>
              <a:rPr lang="en-US" sz="2000" dirty="0"/>
              <a:t>” there. Other parameters should be:</a:t>
            </a:r>
          </a:p>
          <a:p>
            <a:r>
              <a:rPr lang="en-US" sz="2000" b="1" dirty="0" err="1"/>
              <a:t>StartPosition</a:t>
            </a:r>
            <a:r>
              <a:rPr lang="en-US" sz="2000" b="1" dirty="0"/>
              <a:t>=N1</a:t>
            </a:r>
            <a:r>
              <a:rPr lang="en-US" sz="2000" dirty="0"/>
              <a:t> (N1 from first run)</a:t>
            </a:r>
          </a:p>
          <a:p>
            <a:r>
              <a:rPr lang="en-US" sz="2000" b="1" dirty="0" err="1"/>
              <a:t>TimeSteps</a:t>
            </a:r>
            <a:r>
              <a:rPr lang="en-US" sz="2000" b="1" dirty="0"/>
              <a:t>= N2    </a:t>
            </a:r>
            <a:r>
              <a:rPr lang="en-US" sz="2000" dirty="0"/>
              <a:t>(a desired number of time steps in the second run)</a:t>
            </a:r>
          </a:p>
          <a:p>
            <a:r>
              <a:rPr lang="en-US" sz="2000" b="1" dirty="0" err="1"/>
              <a:t>InFieldDir</a:t>
            </a:r>
            <a:r>
              <a:rPr lang="en-US" sz="2000" b="1" dirty="0"/>
              <a:t>=</a:t>
            </a:r>
            <a:r>
              <a:rPr lang="en-US" sz="2000" b="1" dirty="0" err="1"/>
              <a:t>InField</a:t>
            </a:r>
            <a:r>
              <a:rPr lang="en-US" sz="2000" dirty="0"/>
              <a:t> (take initial fields of the first run)</a:t>
            </a:r>
          </a:p>
          <a:p>
            <a:endParaRPr lang="en-US" sz="2000" dirty="0"/>
          </a:p>
          <a:p>
            <a:r>
              <a:rPr lang="en-US" sz="2000" dirty="0"/>
              <a:t>In the next slides an example is considered.</a:t>
            </a:r>
          </a:p>
          <a:p>
            <a:endParaRPr lang="en-US" sz="2000" dirty="0"/>
          </a:p>
          <a:p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3443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3. Example of TESLA cavity.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6163" y="764704"/>
            <a:ext cx="705678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%%%%%%%%%%%%%% geometry</a:t>
            </a:r>
          </a:p>
          <a:p>
            <a:r>
              <a:rPr lang="en-US" sz="1600" b="1" dirty="0"/>
              <a:t>GeometryFile=tesla9.txt	% -(Gaussian beam)</a:t>
            </a:r>
          </a:p>
          <a:p>
            <a:r>
              <a:rPr lang="en-US" sz="1600" b="1" dirty="0"/>
              <a:t>Units=cm	% -m/cm/mm</a:t>
            </a:r>
          </a:p>
          <a:p>
            <a:r>
              <a:rPr lang="en-US" sz="1600" b="1" dirty="0" err="1"/>
              <a:t>GeometryType</a:t>
            </a:r>
            <a:r>
              <a:rPr lang="en-US" sz="1600" b="1" dirty="0"/>
              <a:t>=round'	 % recta / round</a:t>
            </a:r>
          </a:p>
          <a:p>
            <a:r>
              <a:rPr lang="en-US" sz="1600" b="1" dirty="0"/>
              <a:t>Width=0	% in meters</a:t>
            </a:r>
          </a:p>
          <a:p>
            <a:r>
              <a:rPr lang="en-US" sz="1600" b="1" dirty="0" err="1"/>
              <a:t>SymmetryCondition</a:t>
            </a:r>
            <a:r>
              <a:rPr lang="en-US" sz="1600" b="1" dirty="0"/>
              <a:t>=</a:t>
            </a:r>
            <a:r>
              <a:rPr lang="en-US" sz="1600" b="1" dirty="0" err="1"/>
              <a:t>magn</a:t>
            </a:r>
            <a:r>
              <a:rPr lang="en-US" sz="1600" b="1" dirty="0"/>
              <a:t>	 % </a:t>
            </a:r>
            <a:r>
              <a:rPr lang="en-US" sz="1600" b="1" dirty="0" err="1"/>
              <a:t>magn</a:t>
            </a:r>
            <a:r>
              <a:rPr lang="en-US" sz="1600" b="1" dirty="0"/>
              <a:t>/</a:t>
            </a:r>
            <a:r>
              <a:rPr lang="en-US" sz="1600" b="1" dirty="0" err="1"/>
              <a:t>elec</a:t>
            </a:r>
            <a:endParaRPr lang="en-US" sz="1600" b="1" dirty="0"/>
          </a:p>
          <a:p>
            <a:r>
              <a:rPr lang="en-US" sz="1600" b="1" dirty="0"/>
              <a:t>Convex=1</a:t>
            </a:r>
          </a:p>
          <a:p>
            <a:r>
              <a:rPr lang="en-US" sz="1600" b="1" dirty="0"/>
              <a:t>%%%%%%%%%%%%%% beam and field</a:t>
            </a:r>
          </a:p>
          <a:p>
            <a:r>
              <a:rPr lang="en-US" sz="1600" b="1" dirty="0" err="1"/>
              <a:t>InPartFile</a:t>
            </a:r>
            <a:r>
              <a:rPr lang="en-US" sz="1600" b="1" dirty="0"/>
              <a:t>=-</a:t>
            </a:r>
          </a:p>
          <a:p>
            <a:r>
              <a:rPr lang="en-US" sz="1600" b="1" dirty="0" err="1"/>
              <a:t>BunchSigma</a:t>
            </a:r>
            <a:r>
              <a:rPr lang="en-US" sz="1600" b="1" dirty="0"/>
              <a:t>=0.005</a:t>
            </a:r>
          </a:p>
          <a:p>
            <a:r>
              <a:rPr lang="en-US" sz="1600" b="1" dirty="0"/>
              <a:t>Offset=5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InFieldDir</a:t>
            </a:r>
            <a:r>
              <a:rPr lang="en-US" sz="1600" b="1" dirty="0">
                <a:solidFill>
                  <a:srgbClr val="C00000"/>
                </a:solidFill>
              </a:rPr>
              <a:t>= -</a:t>
            </a:r>
          </a:p>
          <a:p>
            <a:r>
              <a:rPr lang="en-US" sz="1600" b="1" dirty="0"/>
              <a:t>%%%%%%%%%%%%%% model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WakeIntMethod</a:t>
            </a:r>
            <a:r>
              <a:rPr lang="en-US" sz="1600" b="1" dirty="0">
                <a:solidFill>
                  <a:srgbClr val="C00000"/>
                </a:solidFill>
              </a:rPr>
              <a:t>=</a:t>
            </a:r>
            <a:r>
              <a:rPr lang="en-US" sz="1600" b="1" dirty="0" err="1">
                <a:solidFill>
                  <a:srgbClr val="C00000"/>
                </a:solidFill>
              </a:rPr>
              <a:t>ind</a:t>
            </a:r>
            <a:endParaRPr lang="en-US" sz="1600" b="1" dirty="0">
              <a:solidFill>
                <a:srgbClr val="C00000"/>
              </a:solidFill>
            </a:endParaRPr>
          </a:p>
          <a:p>
            <a:r>
              <a:rPr lang="en-US" sz="1600" b="1" dirty="0"/>
              <a:t>Modes=1 0 </a:t>
            </a:r>
          </a:p>
          <a:p>
            <a:r>
              <a:rPr lang="en-US" sz="1600" b="1" dirty="0"/>
              <a:t>%%%%%%%%%%%%%% mesh </a:t>
            </a:r>
          </a:p>
          <a:p>
            <a:r>
              <a:rPr lang="en-US" sz="1600" b="1" dirty="0" err="1"/>
              <a:t>MeshLength</a:t>
            </a:r>
            <a:r>
              <a:rPr lang="en-US" sz="1600" b="1" dirty="0"/>
              <a:t>=52</a:t>
            </a:r>
          </a:p>
          <a:p>
            <a:r>
              <a:rPr lang="en-US" sz="1600" b="1" dirty="0" err="1"/>
              <a:t>StepY</a:t>
            </a:r>
            <a:r>
              <a:rPr lang="en-US" sz="1600" b="1" dirty="0"/>
              <a:t>=0.001</a:t>
            </a:r>
          </a:p>
          <a:p>
            <a:r>
              <a:rPr lang="en-US" sz="1600" b="1" dirty="0" err="1"/>
              <a:t>StepZ</a:t>
            </a:r>
            <a:r>
              <a:rPr lang="en-US" sz="1600" b="1" dirty="0"/>
              <a:t>=0.001</a:t>
            </a:r>
          </a:p>
          <a:p>
            <a:r>
              <a:rPr lang="en-US" sz="1600" b="1" dirty="0" err="1"/>
              <a:t>NStepsInConductive</a:t>
            </a:r>
            <a:r>
              <a:rPr lang="en-US" sz="1600" b="1" dirty="0"/>
              <a:t>=0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StartPosition</a:t>
            </a:r>
            <a:r>
              <a:rPr lang="en-US" sz="1600" b="1" dirty="0">
                <a:solidFill>
                  <a:srgbClr val="C00000"/>
                </a:solidFill>
              </a:rPr>
              <a:t>=0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TimeSteps</a:t>
            </a:r>
            <a:r>
              <a:rPr lang="en-US" sz="1600" b="1" dirty="0">
                <a:solidFill>
                  <a:srgbClr val="C00000"/>
                </a:solidFill>
              </a:rPr>
              <a:t>=1116</a:t>
            </a:r>
          </a:p>
          <a:p>
            <a:r>
              <a:rPr lang="en-US" sz="1600" b="1" dirty="0"/>
              <a:t>%%%%%%%%%%%%%% monitors 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DumpField</a:t>
            </a:r>
            <a:r>
              <a:rPr lang="en-US" sz="1600" b="1" dirty="0">
                <a:solidFill>
                  <a:srgbClr val="C00000"/>
                </a:solidFill>
              </a:rPr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3443722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3. Example of TESLA cavity.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90588"/>
            <a:ext cx="8526463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" y="2780928"/>
            <a:ext cx="8694737" cy="188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42813" y="5229200"/>
            <a:ext cx="705678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calculation is done for monopole and dipole mode up to the end of the cavity with indirect integration at the end.</a:t>
            </a:r>
          </a:p>
          <a:p>
            <a:r>
              <a:rPr lang="en-US" sz="2000" dirty="0"/>
              <a:t>The initial fields are calculated in the program as field in the ingoing pipe.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90795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3. Example of TESLA cavity.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4248" y="2221762"/>
            <a:ext cx="1732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Loss=5.198 V/</a:t>
            </a:r>
            <a:r>
              <a:rPr lang="en-US" dirty="0" err="1"/>
              <a:t>pC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732240" y="5062790"/>
            <a:ext cx="215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Kick=38.984  V/</a:t>
            </a:r>
            <a:r>
              <a:rPr lang="en-US" dirty="0" err="1"/>
              <a:t>pC</a:t>
            </a:r>
            <a:r>
              <a:rPr lang="en-US" dirty="0"/>
              <a:t>/m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14" y="611735"/>
            <a:ext cx="5124475" cy="29595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39" y="3680191"/>
            <a:ext cx="4873449" cy="281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43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4. First half of the cavity.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6163" y="764704"/>
            <a:ext cx="705678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%%%%%%%%%%%%%% geometry</a:t>
            </a:r>
          </a:p>
          <a:p>
            <a:r>
              <a:rPr lang="en-US" sz="1600" b="1" dirty="0"/>
              <a:t>GeometryFile=tesla9.txt	% -(Gaussian beam)</a:t>
            </a:r>
          </a:p>
          <a:p>
            <a:r>
              <a:rPr lang="en-US" sz="1600" b="1" dirty="0"/>
              <a:t>Units=cm	% -m/cm/mm</a:t>
            </a:r>
          </a:p>
          <a:p>
            <a:r>
              <a:rPr lang="en-US" sz="1600" b="1" dirty="0" err="1"/>
              <a:t>GeometryType</a:t>
            </a:r>
            <a:r>
              <a:rPr lang="en-US" sz="1600" b="1" dirty="0"/>
              <a:t>=round'	 % recta / round</a:t>
            </a:r>
          </a:p>
          <a:p>
            <a:r>
              <a:rPr lang="en-US" sz="1600" b="1" dirty="0"/>
              <a:t>Width=0	% in meters</a:t>
            </a:r>
          </a:p>
          <a:p>
            <a:r>
              <a:rPr lang="en-US" sz="1600" b="1" dirty="0" err="1"/>
              <a:t>SymmetryCondition</a:t>
            </a:r>
            <a:r>
              <a:rPr lang="en-US" sz="1600" b="1" dirty="0"/>
              <a:t>=</a:t>
            </a:r>
            <a:r>
              <a:rPr lang="en-US" sz="1600" b="1" dirty="0" err="1"/>
              <a:t>magn</a:t>
            </a:r>
            <a:r>
              <a:rPr lang="en-US" sz="1600" b="1" dirty="0"/>
              <a:t>	 % </a:t>
            </a:r>
            <a:r>
              <a:rPr lang="en-US" sz="1600" b="1" dirty="0" err="1"/>
              <a:t>magn</a:t>
            </a:r>
            <a:r>
              <a:rPr lang="en-US" sz="1600" b="1" dirty="0"/>
              <a:t>/</a:t>
            </a:r>
            <a:r>
              <a:rPr lang="en-US" sz="1600" b="1" dirty="0" err="1"/>
              <a:t>elec</a:t>
            </a:r>
            <a:endParaRPr lang="en-US" sz="1600" b="1" dirty="0"/>
          </a:p>
          <a:p>
            <a:r>
              <a:rPr lang="en-US" sz="1600" b="1" dirty="0"/>
              <a:t>Convex=1</a:t>
            </a:r>
          </a:p>
          <a:p>
            <a:r>
              <a:rPr lang="en-US" sz="1600" b="1" dirty="0"/>
              <a:t>%%%%%%%%%%%%%% beam and field</a:t>
            </a:r>
          </a:p>
          <a:p>
            <a:r>
              <a:rPr lang="en-US" sz="1600" b="1" dirty="0" err="1"/>
              <a:t>InPartFile</a:t>
            </a:r>
            <a:r>
              <a:rPr lang="en-US" sz="1600" b="1" dirty="0"/>
              <a:t>=-</a:t>
            </a:r>
          </a:p>
          <a:p>
            <a:r>
              <a:rPr lang="en-US" sz="1600" b="1" dirty="0" err="1"/>
              <a:t>BunchSigma</a:t>
            </a:r>
            <a:r>
              <a:rPr lang="en-US" sz="1600" b="1" dirty="0"/>
              <a:t>=0.005</a:t>
            </a:r>
          </a:p>
          <a:p>
            <a:r>
              <a:rPr lang="en-US" sz="1600" b="1" dirty="0"/>
              <a:t>Offset=5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InFieldDir</a:t>
            </a:r>
            <a:r>
              <a:rPr lang="en-US" sz="1600" b="1" dirty="0">
                <a:solidFill>
                  <a:srgbClr val="C00000"/>
                </a:solidFill>
              </a:rPr>
              <a:t>= -</a:t>
            </a:r>
          </a:p>
          <a:p>
            <a:r>
              <a:rPr lang="en-US" sz="1600" b="1" dirty="0"/>
              <a:t>%%%%%%%%%%%%%% model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WakeIntMethod</a:t>
            </a:r>
            <a:r>
              <a:rPr lang="en-US" sz="1600" b="1" dirty="0">
                <a:solidFill>
                  <a:srgbClr val="C00000"/>
                </a:solidFill>
              </a:rPr>
              <a:t>=</a:t>
            </a:r>
            <a:r>
              <a:rPr lang="en-US" sz="1600" b="1" dirty="0" err="1">
                <a:solidFill>
                  <a:srgbClr val="C00000"/>
                </a:solidFill>
              </a:rPr>
              <a:t>dir</a:t>
            </a:r>
            <a:endParaRPr lang="en-US" sz="1600" b="1" dirty="0">
              <a:solidFill>
                <a:srgbClr val="C00000"/>
              </a:solidFill>
            </a:endParaRPr>
          </a:p>
          <a:p>
            <a:r>
              <a:rPr lang="en-US" sz="1600" b="1" dirty="0"/>
              <a:t>Modes=1 0 </a:t>
            </a:r>
          </a:p>
          <a:p>
            <a:r>
              <a:rPr lang="en-US" sz="1600" b="1" dirty="0"/>
              <a:t>%%%%%%%%%%%%%% mesh </a:t>
            </a:r>
          </a:p>
          <a:p>
            <a:r>
              <a:rPr lang="en-US" sz="1600" b="1" dirty="0" err="1"/>
              <a:t>MeshLength</a:t>
            </a:r>
            <a:r>
              <a:rPr lang="en-US" sz="1600" b="1" dirty="0"/>
              <a:t>=52</a:t>
            </a:r>
          </a:p>
          <a:p>
            <a:r>
              <a:rPr lang="en-US" sz="1600" b="1" dirty="0" err="1"/>
              <a:t>StepY</a:t>
            </a:r>
            <a:r>
              <a:rPr lang="en-US" sz="1600" b="1" dirty="0"/>
              <a:t>=0.001</a:t>
            </a:r>
          </a:p>
          <a:p>
            <a:r>
              <a:rPr lang="en-US" sz="1600" b="1" dirty="0" err="1"/>
              <a:t>StepZ</a:t>
            </a:r>
            <a:r>
              <a:rPr lang="en-US" sz="1600" b="1" dirty="0"/>
              <a:t>=0.001</a:t>
            </a:r>
          </a:p>
          <a:p>
            <a:r>
              <a:rPr lang="en-US" sz="1600" b="1" dirty="0" err="1"/>
              <a:t>NStepsInConductive</a:t>
            </a:r>
            <a:r>
              <a:rPr lang="en-US" sz="1600" b="1" dirty="0"/>
              <a:t>=0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StartPosition</a:t>
            </a:r>
            <a:r>
              <a:rPr lang="en-US" sz="1600" b="1" dirty="0">
                <a:solidFill>
                  <a:srgbClr val="C00000"/>
                </a:solidFill>
              </a:rPr>
              <a:t>=0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TimeSteps</a:t>
            </a:r>
            <a:r>
              <a:rPr lang="en-US" sz="1600" b="1" dirty="0">
                <a:solidFill>
                  <a:srgbClr val="C00000"/>
                </a:solidFill>
              </a:rPr>
              <a:t>=500</a:t>
            </a:r>
          </a:p>
          <a:p>
            <a:r>
              <a:rPr lang="en-US" sz="1600" b="1" dirty="0"/>
              <a:t>%%%%%%%%%%%%%% monitors 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DumpField</a:t>
            </a:r>
            <a:r>
              <a:rPr lang="en-US" sz="1600" b="1" dirty="0">
                <a:solidFill>
                  <a:srgbClr val="C00000"/>
                </a:solidFill>
              </a:rPr>
              <a:t>=1</a:t>
            </a:r>
          </a:p>
        </p:txBody>
      </p:sp>
    </p:spTree>
    <p:extLst>
      <p:ext uri="{BB962C8B-B14F-4D97-AF65-F5344CB8AC3E}">
        <p14:creationId xmlns:p14="http://schemas.microsoft.com/office/powerpoint/2010/main" val="2764211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4. First half of the cavity.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04" y="1571826"/>
            <a:ext cx="880110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971600" y="3933056"/>
            <a:ext cx="705678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calculation is done for monopole and dipole mode along 500 mm with direct integration.</a:t>
            </a:r>
          </a:p>
          <a:p>
            <a:r>
              <a:rPr lang="en-US" sz="2000" dirty="0"/>
              <a:t>The initial fields are calculated in the program as fields in the ingoing pipe.</a:t>
            </a:r>
          </a:p>
          <a:p>
            <a:r>
              <a:rPr lang="en-US" sz="2000" dirty="0"/>
              <a:t>The final fields are dumped in directory “round”.</a:t>
            </a:r>
          </a:p>
        </p:txBody>
      </p:sp>
    </p:spTree>
    <p:extLst>
      <p:ext uri="{BB962C8B-B14F-4D97-AF65-F5344CB8AC3E}">
        <p14:creationId xmlns:p14="http://schemas.microsoft.com/office/powerpoint/2010/main" val="2764211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3. First half of the cavity.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4248" y="2221762"/>
            <a:ext cx="1849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Loss1=2.197 V/</a:t>
            </a:r>
            <a:r>
              <a:rPr lang="en-US" dirty="0" err="1"/>
              <a:t>pC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732240" y="5062790"/>
            <a:ext cx="2322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Kick1= 19.142  V/</a:t>
            </a:r>
            <a:r>
              <a:rPr lang="en-US" dirty="0" err="1"/>
              <a:t>pC</a:t>
            </a:r>
            <a:r>
              <a:rPr lang="en-US" dirty="0"/>
              <a:t>/m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18" y="631232"/>
            <a:ext cx="5066310" cy="29259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18" y="3429000"/>
            <a:ext cx="5110824" cy="295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49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5. Second half of the cavity.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6163" y="764704"/>
            <a:ext cx="705678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%%%%%%%%%%%%%% geometry</a:t>
            </a:r>
          </a:p>
          <a:p>
            <a:r>
              <a:rPr lang="en-US" sz="1600" b="1" dirty="0"/>
              <a:t>GeometryFile=tesla9.txt	% -(Gaussian beam)</a:t>
            </a:r>
          </a:p>
          <a:p>
            <a:r>
              <a:rPr lang="en-US" sz="1600" b="1" dirty="0"/>
              <a:t>Units=cm	% -m/cm/mm</a:t>
            </a:r>
          </a:p>
          <a:p>
            <a:r>
              <a:rPr lang="en-US" sz="1600" b="1" dirty="0" err="1"/>
              <a:t>GeometryType</a:t>
            </a:r>
            <a:r>
              <a:rPr lang="en-US" sz="1600" b="1" dirty="0"/>
              <a:t>=round'	 % recta / round</a:t>
            </a:r>
          </a:p>
          <a:p>
            <a:r>
              <a:rPr lang="en-US" sz="1600" b="1" dirty="0"/>
              <a:t>Width=0	% in meters</a:t>
            </a:r>
          </a:p>
          <a:p>
            <a:r>
              <a:rPr lang="en-US" sz="1600" b="1" dirty="0" err="1"/>
              <a:t>SymmetryCondition</a:t>
            </a:r>
            <a:r>
              <a:rPr lang="en-US" sz="1600" b="1" dirty="0"/>
              <a:t>=</a:t>
            </a:r>
            <a:r>
              <a:rPr lang="en-US" sz="1600" b="1" dirty="0" err="1"/>
              <a:t>magn</a:t>
            </a:r>
            <a:r>
              <a:rPr lang="en-US" sz="1600" b="1" dirty="0"/>
              <a:t>	 % </a:t>
            </a:r>
            <a:r>
              <a:rPr lang="en-US" sz="1600" b="1" dirty="0" err="1"/>
              <a:t>magn</a:t>
            </a:r>
            <a:r>
              <a:rPr lang="en-US" sz="1600" b="1" dirty="0"/>
              <a:t>/</a:t>
            </a:r>
            <a:r>
              <a:rPr lang="en-US" sz="1600" b="1" dirty="0" err="1"/>
              <a:t>elec</a:t>
            </a:r>
            <a:endParaRPr lang="en-US" sz="1600" b="1" dirty="0"/>
          </a:p>
          <a:p>
            <a:r>
              <a:rPr lang="en-US" sz="1600" b="1" dirty="0"/>
              <a:t>Convex=1</a:t>
            </a:r>
          </a:p>
          <a:p>
            <a:r>
              <a:rPr lang="en-US" sz="1600" b="1" dirty="0"/>
              <a:t>%%%%%%%%%%%%%% beam and field</a:t>
            </a:r>
          </a:p>
          <a:p>
            <a:r>
              <a:rPr lang="en-US" sz="1600" b="1" dirty="0" err="1"/>
              <a:t>InPartFile</a:t>
            </a:r>
            <a:r>
              <a:rPr lang="en-US" sz="1600" b="1" dirty="0"/>
              <a:t>=-</a:t>
            </a:r>
          </a:p>
          <a:p>
            <a:r>
              <a:rPr lang="en-US" sz="1600" b="1" dirty="0" err="1"/>
              <a:t>BunchSigma</a:t>
            </a:r>
            <a:r>
              <a:rPr lang="en-US" sz="1600" b="1" dirty="0"/>
              <a:t>=0.005</a:t>
            </a:r>
          </a:p>
          <a:p>
            <a:r>
              <a:rPr lang="en-US" sz="1600" b="1" dirty="0"/>
              <a:t>Offset=5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InFieldDir</a:t>
            </a:r>
            <a:r>
              <a:rPr lang="en-US" sz="1600" b="1" dirty="0">
                <a:solidFill>
                  <a:srgbClr val="C00000"/>
                </a:solidFill>
              </a:rPr>
              <a:t>= </a:t>
            </a:r>
            <a:r>
              <a:rPr lang="en-US" sz="1600" b="1" dirty="0" err="1">
                <a:solidFill>
                  <a:srgbClr val="C00000"/>
                </a:solidFill>
              </a:rPr>
              <a:t>InField</a:t>
            </a:r>
            <a:endParaRPr lang="en-US" sz="1600" b="1" dirty="0">
              <a:solidFill>
                <a:srgbClr val="C00000"/>
              </a:solidFill>
            </a:endParaRPr>
          </a:p>
          <a:p>
            <a:r>
              <a:rPr lang="en-US" sz="1600" b="1" dirty="0"/>
              <a:t>%%%%%%%%%%%%%% model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WakeIntMethod</a:t>
            </a:r>
            <a:r>
              <a:rPr lang="en-US" sz="1600" b="1" dirty="0">
                <a:solidFill>
                  <a:srgbClr val="C00000"/>
                </a:solidFill>
              </a:rPr>
              <a:t>=</a:t>
            </a:r>
            <a:r>
              <a:rPr lang="en-US" sz="1600" b="1" dirty="0" err="1">
                <a:solidFill>
                  <a:srgbClr val="C00000"/>
                </a:solidFill>
              </a:rPr>
              <a:t>ind</a:t>
            </a:r>
            <a:endParaRPr lang="en-US" sz="1600" b="1" dirty="0">
              <a:solidFill>
                <a:srgbClr val="C00000"/>
              </a:solidFill>
            </a:endParaRPr>
          </a:p>
          <a:p>
            <a:r>
              <a:rPr lang="en-US" sz="1600" b="1" dirty="0"/>
              <a:t>Modes=1 0 </a:t>
            </a:r>
          </a:p>
          <a:p>
            <a:r>
              <a:rPr lang="en-US" sz="1600" b="1" dirty="0"/>
              <a:t>%%%%%%%%%%%%%% mesh </a:t>
            </a:r>
          </a:p>
          <a:p>
            <a:r>
              <a:rPr lang="en-US" sz="1600" b="1" dirty="0" err="1"/>
              <a:t>MeshLength</a:t>
            </a:r>
            <a:r>
              <a:rPr lang="en-US" sz="1600" b="1" dirty="0"/>
              <a:t>=52</a:t>
            </a:r>
          </a:p>
          <a:p>
            <a:r>
              <a:rPr lang="en-US" sz="1600" b="1" dirty="0" err="1"/>
              <a:t>StepY</a:t>
            </a:r>
            <a:r>
              <a:rPr lang="en-US" sz="1600" b="1" dirty="0"/>
              <a:t>=0.001</a:t>
            </a:r>
          </a:p>
          <a:p>
            <a:r>
              <a:rPr lang="en-US" sz="1600" b="1" dirty="0" err="1"/>
              <a:t>StepZ</a:t>
            </a:r>
            <a:r>
              <a:rPr lang="en-US" sz="1600" b="1" dirty="0"/>
              <a:t>=0.001</a:t>
            </a:r>
          </a:p>
          <a:p>
            <a:r>
              <a:rPr lang="en-US" sz="1600" b="1" dirty="0" err="1"/>
              <a:t>NStepsInConductive</a:t>
            </a:r>
            <a:r>
              <a:rPr lang="en-US" sz="1600" b="1" dirty="0"/>
              <a:t>=0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StartPosition</a:t>
            </a:r>
            <a:r>
              <a:rPr lang="en-US" sz="1600" b="1" dirty="0">
                <a:solidFill>
                  <a:srgbClr val="C00000"/>
                </a:solidFill>
              </a:rPr>
              <a:t>=500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TimeSteps</a:t>
            </a:r>
            <a:r>
              <a:rPr lang="en-US" sz="1600" b="1" dirty="0">
                <a:solidFill>
                  <a:srgbClr val="C00000"/>
                </a:solidFill>
              </a:rPr>
              <a:t>=616</a:t>
            </a:r>
          </a:p>
          <a:p>
            <a:r>
              <a:rPr lang="en-US" sz="1600" b="1" dirty="0"/>
              <a:t>%%%%%%%%%%%%%% monitors </a:t>
            </a:r>
          </a:p>
          <a:p>
            <a:r>
              <a:rPr lang="en-US" sz="1600" b="1" dirty="0" err="1">
                <a:solidFill>
                  <a:srgbClr val="C00000"/>
                </a:solidFill>
              </a:rPr>
              <a:t>DumpField</a:t>
            </a:r>
            <a:r>
              <a:rPr lang="en-US" sz="1600" b="1" dirty="0">
                <a:solidFill>
                  <a:srgbClr val="C00000"/>
                </a:solidFill>
              </a:rPr>
              <a:t>=1</a:t>
            </a:r>
          </a:p>
        </p:txBody>
      </p:sp>
    </p:spTree>
    <p:extLst>
      <p:ext uri="{BB962C8B-B14F-4D97-AF65-F5344CB8AC3E}">
        <p14:creationId xmlns:p14="http://schemas.microsoft.com/office/powerpoint/2010/main" val="754259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5. Second half of the cavity.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44" y="836712"/>
            <a:ext cx="880110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6" y="2852936"/>
            <a:ext cx="8694737" cy="188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899592" y="4926108"/>
            <a:ext cx="705678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fields from the previous run are copied </a:t>
            </a:r>
            <a:r>
              <a:rPr lang="en-US" sz="2000" dirty="0" err="1"/>
              <a:t>todirectory</a:t>
            </a:r>
            <a:r>
              <a:rPr lang="en-US" sz="2000" dirty="0"/>
              <a:t> “</a:t>
            </a:r>
            <a:r>
              <a:rPr lang="en-US" sz="2000" dirty="0" err="1"/>
              <a:t>InField</a:t>
            </a:r>
            <a:r>
              <a:rPr lang="en-US" sz="2000" dirty="0"/>
              <a:t>”.</a:t>
            </a:r>
          </a:p>
          <a:p>
            <a:r>
              <a:rPr lang="en-US" sz="2000" dirty="0"/>
              <a:t>The calculation is done for monopole and dipole mode along 616 mm with indirect integration in the outgoing pipe.</a:t>
            </a:r>
          </a:p>
          <a:p>
            <a:r>
              <a:rPr lang="en-US" sz="2000" dirty="0"/>
              <a:t>The initial fields are taken from directory “</a:t>
            </a:r>
            <a:r>
              <a:rPr lang="en-US" sz="2000" dirty="0" err="1"/>
              <a:t>InField</a:t>
            </a:r>
            <a:r>
              <a:rPr lang="en-US" sz="2000" dirty="0"/>
              <a:t>”.</a:t>
            </a:r>
          </a:p>
          <a:p>
            <a:r>
              <a:rPr lang="en-US" sz="2000" dirty="0"/>
              <a:t>The final fields are dumped in directory “round”.</a:t>
            </a:r>
          </a:p>
        </p:txBody>
      </p:sp>
    </p:spTree>
    <p:extLst>
      <p:ext uri="{BB962C8B-B14F-4D97-AF65-F5344CB8AC3E}">
        <p14:creationId xmlns:p14="http://schemas.microsoft.com/office/powerpoint/2010/main" val="3110097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5. Second half of the cavity.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4248" y="2221762"/>
            <a:ext cx="1902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Loss2= 2.996 V/</a:t>
            </a:r>
            <a:r>
              <a:rPr lang="en-US" dirty="0" err="1"/>
              <a:t>pC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732240" y="5062790"/>
            <a:ext cx="2375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Kick2=  19.807  V/</a:t>
            </a:r>
            <a:r>
              <a:rPr lang="en-US" dirty="0" err="1"/>
              <a:t>pC</a:t>
            </a:r>
            <a:r>
              <a:rPr lang="en-US" dirty="0"/>
              <a:t>/m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901543"/>
            <a:ext cx="4572000" cy="264043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16" y="3523953"/>
            <a:ext cx="4322632" cy="249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13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6.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2571" y="1228110"/>
            <a:ext cx="2416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Loss1+Loss2= 5.20 V/</a:t>
            </a:r>
            <a:r>
              <a:rPr lang="en-US" dirty="0" err="1"/>
              <a:t>pC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248595" y="1852430"/>
            <a:ext cx="161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Loss=5.20 V/</a:t>
            </a:r>
            <a:r>
              <a:rPr lang="en-US" dirty="0" err="1"/>
              <a:t>pC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223328" y="4402832"/>
            <a:ext cx="2035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Kick=38.98  V/</a:t>
            </a:r>
            <a:r>
              <a:rPr lang="en-US" dirty="0" err="1"/>
              <a:t>pC</a:t>
            </a:r>
            <a:r>
              <a:rPr lang="en-US" dirty="0"/>
              <a:t>/m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3327" y="3604374"/>
            <a:ext cx="2759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Kick1+Kick2=38.95  V/</a:t>
            </a:r>
            <a:r>
              <a:rPr lang="en-US" dirty="0" err="1"/>
              <a:t>pC</a:t>
            </a:r>
            <a:r>
              <a:rPr lang="en-US" dirty="0"/>
              <a:t>/m</a:t>
            </a:r>
          </a:p>
        </p:txBody>
      </p:sp>
    </p:spTree>
    <p:extLst>
      <p:ext uri="{BB962C8B-B14F-4D97-AF65-F5344CB8AC3E}">
        <p14:creationId xmlns:p14="http://schemas.microsoft.com/office/powerpoint/2010/main" val="1730133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en-US" dirty="0"/>
              <a:t>7. Wake monitor.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3568" y="836712"/>
            <a:ext cx="71151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input.txt file has a new parameter</a:t>
            </a:r>
          </a:p>
          <a:p>
            <a:r>
              <a:rPr lang="en-US" dirty="0"/>
              <a:t>"</a:t>
            </a:r>
            <a:r>
              <a:rPr lang="en-US" dirty="0" err="1"/>
              <a:t>WakeMonitor</a:t>
            </a:r>
            <a:r>
              <a:rPr lang="en-US" dirty="0"/>
              <a:t>=nt0 nt1 </a:t>
            </a:r>
            <a:r>
              <a:rPr lang="en-US" dirty="0" err="1"/>
              <a:t>ngap</a:t>
            </a:r>
            <a:r>
              <a:rPr lang="en-US" dirty="0"/>
              <a:t>",</a:t>
            </a:r>
          </a:p>
          <a:p>
            <a:r>
              <a:rPr lang="en-US" dirty="0"/>
              <a:t>where</a:t>
            </a:r>
          </a:p>
          <a:p>
            <a:r>
              <a:rPr lang="en-US" dirty="0"/>
              <a:t>nt0 -first time step for wake to be saved;</a:t>
            </a:r>
          </a:p>
          <a:p>
            <a:r>
              <a:rPr lang="en-US" dirty="0"/>
              <a:t>nt1 -last time step for wake to be saved;</a:t>
            </a:r>
          </a:p>
          <a:p>
            <a:r>
              <a:rPr lang="en-US" dirty="0" err="1"/>
              <a:t>ngap</a:t>
            </a:r>
            <a:r>
              <a:rPr lang="en-US" dirty="0"/>
              <a:t> - gap between the savings.</a:t>
            </a:r>
          </a:p>
          <a:p>
            <a:r>
              <a:rPr lang="en-US" dirty="0"/>
              <a:t>The wakes are saved in binary files with names "</a:t>
            </a:r>
            <a:r>
              <a:rPr lang="en-US" dirty="0" err="1"/>
              <a:t>wakeM_m_nt.bin</a:t>
            </a:r>
            <a:r>
              <a:rPr lang="en-US" dirty="0"/>
              <a:t>",</a:t>
            </a:r>
          </a:p>
          <a:p>
            <a:r>
              <a:rPr lang="en-US" dirty="0"/>
              <a:t>Where </a:t>
            </a:r>
          </a:p>
          <a:p>
            <a:r>
              <a:rPr lang="en-US" dirty="0"/>
              <a:t>m - mode number;</a:t>
            </a:r>
          </a:p>
          <a:p>
            <a:r>
              <a:rPr lang="en-US" dirty="0" err="1"/>
              <a:t>nt</a:t>
            </a:r>
            <a:r>
              <a:rPr lang="en-US" dirty="0"/>
              <a:t> -time step number.</a:t>
            </a:r>
          </a:p>
          <a:p>
            <a:r>
              <a:rPr lang="en-US" dirty="0"/>
              <a:t>The binary format is simple and can be understood if you take a look in </a:t>
            </a:r>
            <a:r>
              <a:rPr lang="en-US" dirty="0" err="1"/>
              <a:t>Matlab</a:t>
            </a:r>
            <a:r>
              <a:rPr lang="en-US" dirty="0"/>
              <a:t> script "</a:t>
            </a:r>
            <a:r>
              <a:rPr lang="en-US" dirty="0" err="1"/>
              <a:t>A_WakeMonitor.m</a:t>
            </a:r>
            <a:r>
              <a:rPr lang="en-US" dirty="0"/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3072364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243408"/>
            <a:ext cx="8229600" cy="1143000"/>
          </a:xfrm>
        </p:spPr>
        <p:txBody>
          <a:bodyPr/>
          <a:lstStyle/>
          <a:p>
            <a:r>
              <a:rPr lang="ru-RU" dirty="0"/>
              <a:t>8</a:t>
            </a:r>
            <a:r>
              <a:rPr lang="en-US" dirty="0"/>
              <a:t>. </a:t>
            </a:r>
            <a:r>
              <a:rPr lang="de-DE" dirty="0" err="1"/>
              <a:t>Arbitrary</a:t>
            </a:r>
            <a:r>
              <a:rPr lang="de-DE" dirty="0"/>
              <a:t> </a:t>
            </a:r>
            <a:r>
              <a:rPr lang="de-DE" dirty="0" err="1"/>
              <a:t>bunch</a:t>
            </a:r>
            <a:r>
              <a:rPr lang="de-DE" dirty="0"/>
              <a:t> </a:t>
            </a:r>
            <a:r>
              <a:rPr lang="de-DE" dirty="0" err="1"/>
              <a:t>shape</a:t>
            </a:r>
            <a:r>
              <a:rPr lang="en-US"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48195" y="671691"/>
            <a:ext cx="903649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current profile is generated in ECHO from arbitrary 1D particle distribution. I have decided to use this option as later it will allow an arbitrary 3D bunch shape.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Here a short instruction.</a:t>
            </a:r>
          </a:p>
          <a:p>
            <a:r>
              <a:rPr lang="en-US" dirty="0"/>
              <a:t>1. In order to prepare an arbitrary shape use a modification of "ParticleGenerator_Triangular_1D.m" . It generates 1D  particle distribution. </a:t>
            </a:r>
          </a:p>
          <a:p>
            <a:r>
              <a:rPr lang="en-US" dirty="0"/>
              <a:t>This file prepares a triangular shape. In order to have an arbitrary shape modify the form factor function at the beginning of the file. </a:t>
            </a:r>
          </a:p>
          <a:p>
            <a:r>
              <a:rPr lang="en-US" dirty="0"/>
              <a:t>The generated particle file "particles.in" has the format:</a:t>
            </a:r>
          </a:p>
          <a:p>
            <a:r>
              <a:rPr lang="en-US" dirty="0"/>
              <a:t>N, x1,x2,...,</a:t>
            </a:r>
            <a:r>
              <a:rPr lang="en-US" dirty="0" err="1"/>
              <a:t>xN</a:t>
            </a:r>
            <a:r>
              <a:rPr lang="en-US" dirty="0"/>
              <a:t>, </a:t>
            </a:r>
          </a:p>
          <a:p>
            <a:r>
              <a:rPr lang="en-US" dirty="0"/>
              <a:t>where N is the number of particles and xi is the longitudinal coordinate in the bunch frame.</a:t>
            </a:r>
          </a:p>
          <a:p>
            <a:r>
              <a:rPr lang="en-US" dirty="0"/>
              <a:t>2. In file "input_in.txt"  the name of the particle file should be written "</a:t>
            </a:r>
            <a:r>
              <a:rPr lang="en-US" dirty="0" err="1"/>
              <a:t>InPartFile</a:t>
            </a:r>
            <a:r>
              <a:rPr lang="en-US" dirty="0"/>
              <a:t>=particles.in." </a:t>
            </a:r>
          </a:p>
          <a:p>
            <a:r>
              <a:rPr lang="en-US" dirty="0"/>
              <a:t> For the default Gaussian bunch use as before "</a:t>
            </a:r>
            <a:r>
              <a:rPr lang="en-US" dirty="0" err="1"/>
              <a:t>InPartFile</a:t>
            </a:r>
            <a:r>
              <a:rPr lang="en-US" dirty="0"/>
              <a:t>= - ".</a:t>
            </a:r>
          </a:p>
          <a:p>
            <a:r>
              <a:rPr lang="en-US" dirty="0"/>
              <a:t>3. Start now ECHO_GUI.exe and run it with " tesla9.echo2d ". You should see a triangular shape of bunch.</a:t>
            </a:r>
          </a:p>
          <a:p>
            <a:r>
              <a:rPr lang="en-US" dirty="0"/>
              <a:t>4. To analyze the wake run " </a:t>
            </a:r>
            <a:r>
              <a:rPr lang="en-US" dirty="0" err="1"/>
              <a:t>PP_Wake_Monopole_AnyShape.m</a:t>
            </a:r>
            <a:r>
              <a:rPr lang="en-US" dirty="0"/>
              <a:t> ". I have not prepared a dipole script but you can easily to make it from "</a:t>
            </a:r>
            <a:r>
              <a:rPr lang="en-US" dirty="0" err="1"/>
              <a:t>PP_Wake_Dipole.m</a:t>
            </a:r>
            <a:r>
              <a:rPr lang="en-US" dirty="0"/>
              <a:t> ".</a:t>
            </a:r>
          </a:p>
          <a:p>
            <a:r>
              <a:rPr lang="en-US" dirty="0"/>
              <a:t>5. The wake coordinates in "WakeL_00.txt" start now at 0. In the previous version the start position was "-5*sigma". Due to this change some of old </a:t>
            </a:r>
            <a:r>
              <a:rPr lang="en-US" dirty="0" err="1"/>
              <a:t>matlab</a:t>
            </a:r>
            <a:r>
              <a:rPr lang="en-US" dirty="0"/>
              <a:t> scripts could  have problems.</a:t>
            </a:r>
          </a:p>
          <a:p>
            <a:r>
              <a:rPr lang="en-US" dirty="0"/>
              <a:t>6. The 1D bunch shape interpolated from particles and indeed used in ECHO </a:t>
            </a:r>
            <a:r>
              <a:rPr lang="en-US"/>
              <a:t>is saved </a:t>
            </a:r>
            <a:r>
              <a:rPr lang="en-US" dirty="0"/>
              <a:t>in "current0.txt". It is approximately the form factor function.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6656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667</Words>
  <Application>Microsoft Macintosh PowerPoint</Application>
  <PresentationFormat>On-screen Show (4:3)</PresentationFormat>
  <Paragraphs>161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 Manual  for Restart of ECHO2D and Arbitrary Bunch Shape</vt:lpstr>
      <vt:lpstr> Contents</vt:lpstr>
      <vt:lpstr>1. New parameters.</vt:lpstr>
      <vt:lpstr>2. Restart procedure.</vt:lpstr>
      <vt:lpstr>3. Example of TESLA cavity.</vt:lpstr>
      <vt:lpstr>3. Example of TESLA cavity.</vt:lpstr>
      <vt:lpstr>3. Example of TESLA cavity.</vt:lpstr>
      <vt:lpstr>4. First half of the cavity.</vt:lpstr>
      <vt:lpstr>4. First half of the cavity.</vt:lpstr>
      <vt:lpstr>3. First half of the cavity.</vt:lpstr>
      <vt:lpstr>5. Second half of the cavity.</vt:lpstr>
      <vt:lpstr>5. Second half of the cavity.</vt:lpstr>
      <vt:lpstr>5. Second half of the cavity.</vt:lpstr>
      <vt:lpstr>6. Comparison.</vt:lpstr>
      <vt:lpstr>7. Wake monitor.</vt:lpstr>
      <vt:lpstr>8. Arbitrary bunch shape.</vt:lpstr>
    </vt:vector>
  </TitlesOfParts>
  <Company>DESY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Short ECHO Manual  for Rectangular Structures</dc:title>
  <dc:creator>Zagorodnov, Igor</dc:creator>
  <cp:lastModifiedBy>Igor Zagorodnov</cp:lastModifiedBy>
  <cp:revision>61</cp:revision>
  <dcterms:created xsi:type="dcterms:W3CDTF">2016-04-01T12:30:18Z</dcterms:created>
  <dcterms:modified xsi:type="dcterms:W3CDTF">2020-04-01T16:14:34Z</dcterms:modified>
</cp:coreProperties>
</file>