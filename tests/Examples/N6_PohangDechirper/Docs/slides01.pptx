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1" r:id="rId4"/>
    <p:sldId id="263" r:id="rId5"/>
    <p:sldId id="262" r:id="rId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-912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702222-B8BA-45B9-B659-306A8FF527B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26512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BD8E27-56E0-410A-B702-EC0DD9BD3C4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36849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61ED9B-C3FA-4487-B9A0-3DF02F14400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69120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332147-45AD-49A0-B668-451FC24449B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48159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8971FE-8C22-460C-B172-3612036DFEE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79133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91C2B7-ADE7-4A11-B162-25BFDF77897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58049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D15BB4-D6A4-4EF8-8A14-FBCBE1112BE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89980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4F81D-C156-4DB9-95DA-EC267CBDD4C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62197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7A01B8-4A6C-4E54-812A-F40273F21B0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2311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6CCFAB-3CFB-4CDF-8C01-8658B508BC0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94336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0F28A0-568A-48B1-9B6E-598552C178B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38982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text styles</a:t>
            </a:r>
          </a:p>
          <a:p>
            <a:pPr lvl="1"/>
            <a:r>
              <a:rPr lang="en-GB" altLang="en-US" smtClean="0"/>
              <a:t>Second level</a:t>
            </a:r>
          </a:p>
          <a:p>
            <a:pPr lvl="2"/>
            <a:r>
              <a:rPr lang="en-GB" altLang="en-US" smtClean="0"/>
              <a:t>Third level</a:t>
            </a:r>
          </a:p>
          <a:p>
            <a:pPr lvl="3"/>
            <a:r>
              <a:rPr lang="en-GB" altLang="en-US" smtClean="0"/>
              <a:t>Fourth level</a:t>
            </a:r>
          </a:p>
          <a:p>
            <a:pPr lvl="4"/>
            <a:r>
              <a:rPr lang="en-GB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8D38895-4BBF-47CD-B034-00C8D28BA01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79" y="1065289"/>
            <a:ext cx="4602480" cy="277368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V="1">
            <a:off x="1443392" y="2131081"/>
            <a:ext cx="2728085" cy="165208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4029153" y="1420723"/>
            <a:ext cx="0" cy="51387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807434" y="2853831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5</a:t>
            </a:r>
            <a:r>
              <a:rPr lang="de-DE" dirty="0" smtClean="0"/>
              <a:t>0 </a:t>
            </a:r>
            <a:r>
              <a:rPr lang="de-DE" dirty="0"/>
              <a:t>m</a:t>
            </a:r>
            <a:r>
              <a:rPr lang="de-DE" dirty="0" smtClean="0"/>
              <a:t>m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4171477" y="1492994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6</a:t>
            </a:r>
            <a:r>
              <a:rPr lang="de-DE" dirty="0" smtClean="0"/>
              <a:t> </a:t>
            </a:r>
            <a:r>
              <a:rPr lang="de-DE" dirty="0"/>
              <a:t>m</a:t>
            </a:r>
            <a:r>
              <a:rPr lang="de-DE" dirty="0" smtClean="0"/>
              <a:t>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218441" y="5014085"/>
                <a:ext cx="41497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ea typeface="Cambria Math"/>
                  </a:rPr>
                  <a:t>Gaussian bunch with RMS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𝜎</m:t>
                    </m:r>
                    <m:r>
                      <a:rPr lang="de-DE" b="0" i="1" smtClean="0">
                        <a:latin typeface="Cambria Math"/>
                        <a:ea typeface="Cambria Math"/>
                      </a:rPr>
                      <m:t>=0.5 </m:t>
                    </m:r>
                  </m:oMath>
                </a14:m>
                <a:r>
                  <a:rPr lang="en-US" dirty="0" smtClean="0"/>
                  <a:t>mm</a:t>
                </a:r>
                <a:endParaRPr lang="en-US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8441" y="5014085"/>
                <a:ext cx="4149726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322" t="-8333" r="-73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8555" y="1405835"/>
            <a:ext cx="3286125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1"/>
          <p:cNvSpPr txBox="1"/>
          <p:nvPr/>
        </p:nvSpPr>
        <p:spPr>
          <a:xfrm>
            <a:off x="5744598" y="3111457"/>
            <a:ext cx="153760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g</a:t>
            </a:r>
            <a:r>
              <a:rPr lang="de-DE" dirty="0" smtClean="0"/>
              <a:t> = 0.3 mm</a:t>
            </a:r>
          </a:p>
          <a:p>
            <a:r>
              <a:rPr lang="de-DE" dirty="0" smtClean="0"/>
              <a:t>p = 0.5 mm</a:t>
            </a:r>
          </a:p>
          <a:p>
            <a:r>
              <a:rPr lang="de-DE" dirty="0" smtClean="0"/>
              <a:t>2w = 50 mm</a:t>
            </a:r>
          </a:p>
          <a:p>
            <a:r>
              <a:rPr lang="de-DE" dirty="0" smtClean="0"/>
              <a:t>2a = 6 mm</a:t>
            </a:r>
          </a:p>
          <a:p>
            <a:r>
              <a:rPr lang="de-DE" dirty="0" smtClean="0"/>
              <a:t>h = 0.6 mm</a:t>
            </a:r>
          </a:p>
          <a:p>
            <a:r>
              <a:rPr lang="de-DE" dirty="0" err="1" smtClean="0"/>
              <a:t>Length</a:t>
            </a:r>
            <a:r>
              <a:rPr lang="de-DE" dirty="0" smtClean="0"/>
              <a:t> = 1 m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1303" y="939551"/>
            <a:ext cx="4066899" cy="855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627439"/>
              </p:ext>
            </p:extLst>
          </p:nvPr>
        </p:nvGraphicFramePr>
        <p:xfrm>
          <a:off x="345102" y="1668357"/>
          <a:ext cx="4075755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707"/>
                <a:gridCol w="1398048"/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Wake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 smtClean="0"/>
                        <a:t>Numerical</a:t>
                      </a:r>
                      <a:r>
                        <a:rPr lang="de-DE" dirty="0" smtClean="0"/>
                        <a:t>/</a:t>
                      </a:r>
                    </a:p>
                    <a:p>
                      <a:r>
                        <a:rPr lang="de-DE" dirty="0" smtClean="0"/>
                        <a:t>Analytical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Longitudinal Loss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0.83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b="1" dirty="0" smtClean="0"/>
                        <a:t>Dipole Kick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 smtClean="0"/>
                        <a:t>0.79</a:t>
                      </a:r>
                      <a:endParaRPr 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Quad</a:t>
                      </a:r>
                      <a:r>
                        <a:rPr lang="de-DE" baseline="0" dirty="0" smtClean="0"/>
                        <a:t> Kick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0.73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93"/>
          <a:stretch/>
        </p:blipFill>
        <p:spPr bwMode="auto">
          <a:xfrm>
            <a:off x="5032493" y="1859028"/>
            <a:ext cx="1209609" cy="1780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2101" y="1795447"/>
            <a:ext cx="1166947" cy="1811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91400" y="935772"/>
                <a:ext cx="298030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 smtClean="0">
                    <a:ea typeface="Cambria Math"/>
                  </a:rPr>
                  <a:t>ECHO </a:t>
                </a:r>
                <a:r>
                  <a:rPr lang="de-DE" dirty="0" err="1" smtClean="0">
                    <a:ea typeface="Cambria Math"/>
                  </a:rPr>
                  <a:t>for</a:t>
                </a:r>
                <a:r>
                  <a:rPr lang="de-DE" dirty="0" smtClean="0">
                    <a:ea typeface="Cambria Math"/>
                  </a:rPr>
                  <a:t> </a:t>
                </a:r>
                <a:r>
                  <a:rPr lang="en-US" dirty="0" smtClean="0">
                    <a:ea typeface="Cambria Math"/>
                  </a:rPr>
                  <a:t>Gaussian </a:t>
                </a:r>
                <a:r>
                  <a:rPr lang="en-US" dirty="0" smtClean="0">
                    <a:ea typeface="Cambria Math"/>
                  </a:rPr>
                  <a:t>bunch </a:t>
                </a:r>
                <a:endParaRPr lang="en-US" dirty="0" smtClean="0">
                  <a:ea typeface="Cambria Math"/>
                </a:endParaRPr>
              </a:p>
              <a:p>
                <a:r>
                  <a:rPr lang="en-US" dirty="0" smtClean="0">
                    <a:ea typeface="Cambria Math"/>
                  </a:rPr>
                  <a:t>with </a:t>
                </a:r>
                <a:r>
                  <a:rPr lang="en-US" dirty="0" smtClean="0">
                    <a:ea typeface="Cambria Math"/>
                  </a:rPr>
                  <a:t>RMS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𝜎</m:t>
                    </m:r>
                    <m:r>
                      <a:rPr lang="de-DE" b="0" i="1" smtClean="0">
                        <a:latin typeface="Cambria Math"/>
                        <a:ea typeface="Cambria Math"/>
                      </a:rPr>
                      <m:t>=0.5 </m:t>
                    </m:r>
                  </m:oMath>
                </a14:m>
                <a:r>
                  <a:rPr lang="en-US" dirty="0" smtClean="0"/>
                  <a:t>mm</a:t>
                </a:r>
                <a:endParaRPr lang="en-US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400" y="935772"/>
                <a:ext cx="2980303" cy="646331"/>
              </a:xfrm>
              <a:prstGeom prst="rect">
                <a:avLst/>
              </a:prstGeom>
              <a:blipFill rotWithShape="1">
                <a:blip r:embed="rId5"/>
                <a:stretch>
                  <a:fillRect l="-1840" t="-4717" r="-613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437690" y="4537994"/>
            <a:ext cx="51667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0.76*200 </a:t>
            </a:r>
            <a:r>
              <a:rPr lang="en-US" dirty="0" err="1" smtClean="0"/>
              <a:t>pC</a:t>
            </a:r>
            <a:r>
              <a:rPr lang="en-US" dirty="0" smtClean="0"/>
              <a:t> = 152 </a:t>
            </a:r>
            <a:r>
              <a:rPr lang="en-US" dirty="0" err="1" smtClean="0"/>
              <a:t>pC</a:t>
            </a:r>
            <a:r>
              <a:rPr lang="en-US" dirty="0" smtClean="0"/>
              <a:t> – the charge in the paper!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37690" y="4008853"/>
            <a:ext cx="24288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(0.73+0.79</a:t>
            </a:r>
            <a:r>
              <a:rPr lang="en-US" dirty="0"/>
              <a:t>)*</a:t>
            </a:r>
            <a:r>
              <a:rPr lang="en-US" dirty="0" smtClean="0"/>
              <a:t>0.5=0.76 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06962" y="3463813"/>
            <a:ext cx="17043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accuracy ~ 1%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7" y="742243"/>
            <a:ext cx="5840153" cy="41849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63783" y="314892"/>
                <a:ext cx="1320683" cy="7087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de-DE" b="0" i="1" smtClean="0">
                              <a:latin typeface="Cambria Math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de-DE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/>
                            </a:rPr>
                            <m:t>𝑠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de-DE" b="0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latin typeface="Cambria Math"/>
                                </a:rPr>
                                <m:t>V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latin typeface="Cambria Math"/>
                                </a:rPr>
                                <m:t>pC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783" y="314892"/>
                <a:ext cx="1320683" cy="7087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628678" y="4801351"/>
                <a:ext cx="9072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/>
                        </a:rPr>
                        <m:t>𝑠</m:t>
                      </m:r>
                      <m:d>
                        <m:dPr>
                          <m:begChr m:val="["/>
                          <m:endChr m:val="]"/>
                          <m:ctrlPr>
                            <a:rPr lang="de-DE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/>
                            </a:rPr>
                            <m:t>mm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8678" y="4801351"/>
                <a:ext cx="907236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560088"/>
              </p:ext>
            </p:extLst>
          </p:nvPr>
        </p:nvGraphicFramePr>
        <p:xfrm>
          <a:off x="5766009" y="1397000"/>
          <a:ext cx="310593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3046"/>
                <a:gridCol w="1102891"/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Loss </a:t>
                      </a:r>
                      <a:r>
                        <a:rPr lang="de-DE" dirty="0" err="1" smtClean="0"/>
                        <a:t>factor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V/</a:t>
                      </a:r>
                      <a:r>
                        <a:rPr lang="de-DE" dirty="0" err="1" smtClean="0"/>
                        <a:t>pC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Analytical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920.47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 smtClean="0"/>
                        <a:t>Numerical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760.77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Num. /Analytical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0.83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TextBox 1"/>
          <p:cNvSpPr txBox="1">
            <a:spLocks noChangeArrowheads="1"/>
          </p:cNvSpPr>
          <p:nvPr/>
        </p:nvSpPr>
        <p:spPr bwMode="auto">
          <a:xfrm>
            <a:off x="2309446" y="3797882"/>
            <a:ext cx="330731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en-US" sz="1800" dirty="0" err="1" smtClean="0">
                <a:solidFill>
                  <a:schemeClr val="bg1">
                    <a:lumMod val="50000"/>
                  </a:schemeClr>
                </a:solidFill>
              </a:rPr>
              <a:t>analytical</a:t>
            </a:r>
            <a:r>
              <a:rPr lang="de-DE" altLang="en-US" sz="1800" dirty="0" smtClean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de-DE" altLang="en-US" sz="1800" dirty="0" err="1" smtClean="0">
                <a:solidFill>
                  <a:schemeClr val="bg1">
                    <a:lumMod val="50000"/>
                  </a:schemeClr>
                </a:solidFill>
              </a:rPr>
              <a:t>point</a:t>
            </a:r>
            <a:r>
              <a:rPr lang="de-DE" altLang="en-US" sz="18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altLang="en-US" sz="1800" dirty="0" err="1" smtClean="0">
                <a:solidFill>
                  <a:schemeClr val="bg1">
                    <a:lumMod val="50000"/>
                  </a:schemeClr>
                </a:solidFill>
              </a:rPr>
              <a:t>charge</a:t>
            </a:r>
            <a:r>
              <a:rPr lang="de-DE" altLang="en-US" sz="18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en-US" sz="1800" dirty="0" smtClean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de-DE" altLang="en-US" sz="1800" dirty="0" err="1" smtClean="0">
                <a:solidFill>
                  <a:schemeClr val="bg1">
                    <a:lumMod val="50000"/>
                  </a:schemeClr>
                </a:solidFill>
              </a:rPr>
              <a:t>Stupakov‘s</a:t>
            </a:r>
            <a:r>
              <a:rPr lang="de-DE" altLang="en-US" sz="18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altLang="en-US" sz="1800" dirty="0" err="1" smtClean="0">
                <a:solidFill>
                  <a:schemeClr val="bg1">
                    <a:lumMod val="50000"/>
                  </a:schemeClr>
                </a:solidFill>
              </a:rPr>
              <a:t>slides</a:t>
            </a:r>
            <a:r>
              <a:rPr lang="de-DE" altLang="en-US" sz="1800" dirty="0" smtClean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de-DE" altLang="en-US" sz="1800" dirty="0" err="1" smtClean="0">
                <a:solidFill>
                  <a:schemeClr val="bg1">
                    <a:lumMod val="50000"/>
                  </a:schemeClr>
                </a:solidFill>
              </a:rPr>
              <a:t>eps_inv</a:t>
            </a:r>
            <a:r>
              <a:rPr lang="de-DE" altLang="en-US" sz="1800" dirty="0" smtClean="0">
                <a:solidFill>
                  <a:schemeClr val="bg1">
                    <a:lumMod val="50000"/>
                  </a:schemeClr>
                </a:solidFill>
              </a:rPr>
              <a:t>=0)</a:t>
            </a:r>
            <a:endParaRPr lang="en-US" alt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TextBox 1"/>
          <p:cNvSpPr txBox="1">
            <a:spLocks noChangeArrowheads="1"/>
          </p:cNvSpPr>
          <p:nvPr/>
        </p:nvSpPr>
        <p:spPr bwMode="auto">
          <a:xfrm>
            <a:off x="924124" y="3350668"/>
            <a:ext cx="11464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en-US" sz="1800" dirty="0" err="1" smtClean="0">
                <a:solidFill>
                  <a:schemeClr val="bg1">
                    <a:lumMod val="50000"/>
                  </a:schemeClr>
                </a:solidFill>
              </a:rPr>
              <a:t>analytical</a:t>
            </a:r>
            <a:endParaRPr lang="en-US" alt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TextBox 1"/>
          <p:cNvSpPr txBox="1">
            <a:spLocks noChangeArrowheads="1"/>
          </p:cNvSpPr>
          <p:nvPr/>
        </p:nvSpPr>
        <p:spPr bwMode="auto">
          <a:xfrm>
            <a:off x="1782444" y="2584313"/>
            <a:ext cx="8515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en-US" sz="1800" dirty="0" smtClean="0"/>
              <a:t>ECHO</a:t>
            </a:r>
            <a:endParaRPr lang="en-US" altLang="en-US" sz="1800" dirty="0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2208202" y="2953645"/>
            <a:ext cx="202489" cy="2732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4165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94" y="887304"/>
            <a:ext cx="5383873" cy="41547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628678" y="4801351"/>
                <a:ext cx="9072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/>
                        </a:rPr>
                        <m:t>𝑠</m:t>
                      </m:r>
                      <m:d>
                        <m:dPr>
                          <m:begChr m:val="["/>
                          <m:endChr m:val="]"/>
                          <m:ctrlPr>
                            <a:rPr lang="de-DE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/>
                            </a:rPr>
                            <m:t>mm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8678" y="4801351"/>
                <a:ext cx="907236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6752803"/>
              </p:ext>
            </p:extLst>
          </p:nvPr>
        </p:nvGraphicFramePr>
        <p:xfrm>
          <a:off x="5766009" y="1397000"/>
          <a:ext cx="3105937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029"/>
                <a:gridCol w="1246908"/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Dipole kick </a:t>
                      </a:r>
                      <a:r>
                        <a:rPr lang="de-DE" dirty="0" err="1" smtClean="0"/>
                        <a:t>factor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V/</a:t>
                      </a:r>
                      <a:r>
                        <a:rPr lang="de-DE" dirty="0" err="1" smtClean="0"/>
                        <a:t>pC</a:t>
                      </a:r>
                      <a:r>
                        <a:rPr lang="de-DE" dirty="0" smtClean="0"/>
                        <a:t>/m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Analytical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73829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 smtClean="0"/>
                        <a:t>Numerical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58335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Num. /Analytical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0.79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TextBox 1"/>
          <p:cNvSpPr txBox="1">
            <a:spLocks noChangeArrowheads="1"/>
          </p:cNvSpPr>
          <p:nvPr/>
        </p:nvSpPr>
        <p:spPr bwMode="auto">
          <a:xfrm>
            <a:off x="2585612" y="1148111"/>
            <a:ext cx="330731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en-US" sz="1800" dirty="0" err="1" smtClean="0">
                <a:solidFill>
                  <a:schemeClr val="bg1">
                    <a:lumMod val="50000"/>
                  </a:schemeClr>
                </a:solidFill>
              </a:rPr>
              <a:t>analytical</a:t>
            </a:r>
            <a:r>
              <a:rPr lang="de-DE" altLang="en-US" sz="1800" dirty="0" smtClean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de-DE" altLang="en-US" sz="1800" dirty="0" err="1" smtClean="0">
                <a:solidFill>
                  <a:schemeClr val="bg1">
                    <a:lumMod val="50000"/>
                  </a:schemeClr>
                </a:solidFill>
              </a:rPr>
              <a:t>point</a:t>
            </a:r>
            <a:r>
              <a:rPr lang="de-DE" altLang="en-US" sz="18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altLang="en-US" sz="1800" dirty="0" err="1" smtClean="0">
                <a:solidFill>
                  <a:schemeClr val="bg1">
                    <a:lumMod val="50000"/>
                  </a:schemeClr>
                </a:solidFill>
              </a:rPr>
              <a:t>charge</a:t>
            </a:r>
            <a:r>
              <a:rPr lang="de-DE" altLang="en-US" sz="18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en-US" sz="1800" dirty="0" smtClean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de-DE" altLang="en-US" sz="1800" dirty="0" err="1" smtClean="0">
                <a:solidFill>
                  <a:schemeClr val="bg1">
                    <a:lumMod val="50000"/>
                  </a:schemeClr>
                </a:solidFill>
              </a:rPr>
              <a:t>Stupakov‘s</a:t>
            </a:r>
            <a:r>
              <a:rPr lang="de-DE" altLang="en-US" sz="18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altLang="en-US" sz="1800" dirty="0" err="1" smtClean="0">
                <a:solidFill>
                  <a:schemeClr val="bg1">
                    <a:lumMod val="50000"/>
                  </a:schemeClr>
                </a:solidFill>
              </a:rPr>
              <a:t>slides</a:t>
            </a:r>
            <a:r>
              <a:rPr lang="de-DE" altLang="en-US" sz="1800" dirty="0" smtClean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de-DE" altLang="en-US" sz="1800" dirty="0" err="1" smtClean="0">
                <a:solidFill>
                  <a:schemeClr val="bg1">
                    <a:lumMod val="50000"/>
                  </a:schemeClr>
                </a:solidFill>
              </a:rPr>
              <a:t>eps_inv</a:t>
            </a:r>
            <a:r>
              <a:rPr lang="de-DE" altLang="en-US" sz="1800" dirty="0" smtClean="0">
                <a:solidFill>
                  <a:schemeClr val="bg1">
                    <a:lumMod val="50000"/>
                  </a:schemeClr>
                </a:solidFill>
              </a:rPr>
              <a:t>=0)</a:t>
            </a:r>
            <a:endParaRPr lang="en-US" alt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TextBox 1"/>
          <p:cNvSpPr txBox="1">
            <a:spLocks noChangeArrowheads="1"/>
          </p:cNvSpPr>
          <p:nvPr/>
        </p:nvSpPr>
        <p:spPr bwMode="auto">
          <a:xfrm>
            <a:off x="742898" y="1613077"/>
            <a:ext cx="11464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en-US" sz="1800" dirty="0" err="1" smtClean="0">
                <a:solidFill>
                  <a:schemeClr val="bg1">
                    <a:lumMod val="50000"/>
                  </a:schemeClr>
                </a:solidFill>
              </a:rPr>
              <a:t>analytical</a:t>
            </a:r>
            <a:endParaRPr lang="en-US" alt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TextBox 1"/>
          <p:cNvSpPr txBox="1">
            <a:spLocks noChangeArrowheads="1"/>
          </p:cNvSpPr>
          <p:nvPr/>
        </p:nvSpPr>
        <p:spPr bwMode="auto">
          <a:xfrm>
            <a:off x="1996802" y="3070855"/>
            <a:ext cx="8515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en-US" sz="1800" dirty="0" smtClean="0"/>
              <a:t>ECHO</a:t>
            </a:r>
            <a:endParaRPr lang="en-US" altLang="en-US" sz="1800" dirty="0"/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2442584" y="2858497"/>
            <a:ext cx="286056" cy="21235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47498" y="178584"/>
                <a:ext cx="1769202" cy="7087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de-DE" b="0" i="1" smtClean="0">
                              <a:latin typeface="Cambria Math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de-DE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/>
                            </a:rPr>
                            <m:t>𝑠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de-DE" b="0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latin typeface="Cambria Math"/>
                                </a:rPr>
                                <m:t>V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latin typeface="Cambria Math"/>
                                </a:rPr>
                                <m:t>pC</m:t>
                              </m:r>
                              <m:r>
                                <a:rPr lang="de-DE">
                                  <a:latin typeface="Cambria Math"/>
                                  <a:ea typeface="Cambria Math"/>
                                </a:rPr>
                                <m:t>∙</m:t>
                              </m:r>
                              <m:r>
                                <a:rPr lang="de-DE" i="1">
                                  <a:latin typeface="Cambria Math"/>
                                  <a:ea typeface="Cambria Math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498" y="178584"/>
                <a:ext cx="1769202" cy="7087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stCxn id="23" idx="3"/>
          </p:cNvCxnSpPr>
          <p:nvPr/>
        </p:nvCxnSpPr>
        <p:spPr>
          <a:xfrm>
            <a:off x="1889366" y="1797743"/>
            <a:ext cx="256884" cy="532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6921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5343"/>
            <a:ext cx="5912923" cy="45630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628678" y="5239658"/>
                <a:ext cx="9072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/>
                        </a:rPr>
                        <m:t>𝑠</m:t>
                      </m:r>
                      <m:d>
                        <m:dPr>
                          <m:begChr m:val="["/>
                          <m:endChr m:val="]"/>
                          <m:ctrlPr>
                            <a:rPr lang="de-DE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/>
                            </a:rPr>
                            <m:t>mm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8678" y="5239658"/>
                <a:ext cx="907236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026507"/>
              </p:ext>
            </p:extLst>
          </p:nvPr>
        </p:nvGraphicFramePr>
        <p:xfrm>
          <a:off x="5766009" y="1397000"/>
          <a:ext cx="3105937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029"/>
                <a:gridCol w="1246908"/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Quad kick </a:t>
                      </a:r>
                      <a:r>
                        <a:rPr lang="de-DE" dirty="0" err="1" smtClean="0"/>
                        <a:t>factor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V/</a:t>
                      </a:r>
                      <a:r>
                        <a:rPr lang="de-DE" dirty="0" err="1" smtClean="0"/>
                        <a:t>pC</a:t>
                      </a:r>
                      <a:r>
                        <a:rPr lang="de-DE" dirty="0" smtClean="0"/>
                        <a:t>/m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Analytical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72037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 smtClean="0"/>
                        <a:t>Numerical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52525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Num. /Analytical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0.73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TextBox 1"/>
          <p:cNvSpPr txBox="1">
            <a:spLocks noChangeArrowheads="1"/>
          </p:cNvSpPr>
          <p:nvPr/>
        </p:nvSpPr>
        <p:spPr bwMode="auto">
          <a:xfrm>
            <a:off x="2496349" y="1266279"/>
            <a:ext cx="330731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en-US" sz="1800" dirty="0" err="1" smtClean="0">
                <a:solidFill>
                  <a:schemeClr val="bg1">
                    <a:lumMod val="50000"/>
                  </a:schemeClr>
                </a:solidFill>
              </a:rPr>
              <a:t>analytical</a:t>
            </a:r>
            <a:r>
              <a:rPr lang="de-DE" altLang="en-US" sz="1800" dirty="0" smtClean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de-DE" altLang="en-US" sz="1800" dirty="0" err="1" smtClean="0">
                <a:solidFill>
                  <a:schemeClr val="bg1">
                    <a:lumMod val="50000"/>
                  </a:schemeClr>
                </a:solidFill>
              </a:rPr>
              <a:t>point</a:t>
            </a:r>
            <a:r>
              <a:rPr lang="de-DE" altLang="en-US" sz="18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altLang="en-US" sz="1800" dirty="0" err="1" smtClean="0">
                <a:solidFill>
                  <a:schemeClr val="bg1">
                    <a:lumMod val="50000"/>
                  </a:schemeClr>
                </a:solidFill>
              </a:rPr>
              <a:t>charge</a:t>
            </a:r>
            <a:r>
              <a:rPr lang="de-DE" altLang="en-US" sz="18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en-US" sz="1800" dirty="0" smtClean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de-DE" altLang="en-US" sz="1800" dirty="0" err="1" smtClean="0">
                <a:solidFill>
                  <a:schemeClr val="bg1">
                    <a:lumMod val="50000"/>
                  </a:schemeClr>
                </a:solidFill>
              </a:rPr>
              <a:t>Stupakov‘s</a:t>
            </a:r>
            <a:r>
              <a:rPr lang="de-DE" altLang="en-US" sz="18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altLang="en-US" sz="1800" dirty="0" err="1" smtClean="0">
                <a:solidFill>
                  <a:schemeClr val="bg1">
                    <a:lumMod val="50000"/>
                  </a:schemeClr>
                </a:solidFill>
              </a:rPr>
              <a:t>slides</a:t>
            </a:r>
            <a:r>
              <a:rPr lang="de-DE" altLang="en-US" sz="1800" dirty="0" smtClean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de-DE" altLang="en-US" sz="1800" dirty="0" err="1" smtClean="0">
                <a:solidFill>
                  <a:schemeClr val="bg1">
                    <a:lumMod val="50000"/>
                  </a:schemeClr>
                </a:solidFill>
              </a:rPr>
              <a:t>eps_inv</a:t>
            </a:r>
            <a:r>
              <a:rPr lang="de-DE" altLang="en-US" sz="1800" dirty="0" smtClean="0">
                <a:solidFill>
                  <a:schemeClr val="bg1">
                    <a:lumMod val="50000"/>
                  </a:schemeClr>
                </a:solidFill>
              </a:rPr>
              <a:t>=0)</a:t>
            </a:r>
            <a:endParaRPr lang="en-US" alt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TextBox 1"/>
          <p:cNvSpPr txBox="1">
            <a:spLocks noChangeArrowheads="1"/>
          </p:cNvSpPr>
          <p:nvPr/>
        </p:nvSpPr>
        <p:spPr bwMode="auto">
          <a:xfrm>
            <a:off x="999782" y="1837319"/>
            <a:ext cx="11464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en-US" sz="1800" dirty="0" err="1" smtClean="0">
                <a:solidFill>
                  <a:schemeClr val="bg1">
                    <a:lumMod val="50000"/>
                  </a:schemeClr>
                </a:solidFill>
              </a:rPr>
              <a:t>analytical</a:t>
            </a:r>
            <a:endParaRPr lang="en-US" alt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TextBox 1"/>
          <p:cNvSpPr txBox="1">
            <a:spLocks noChangeArrowheads="1"/>
          </p:cNvSpPr>
          <p:nvPr/>
        </p:nvSpPr>
        <p:spPr bwMode="auto">
          <a:xfrm>
            <a:off x="2070592" y="3166002"/>
            <a:ext cx="8515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altLang="en-US" sz="1800" dirty="0" smtClean="0"/>
              <a:t>ECHO</a:t>
            </a:r>
            <a:endParaRPr lang="en-US" altLang="en-US" sz="1800" dirty="0"/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2585613" y="2953644"/>
            <a:ext cx="286056" cy="21235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47498" y="178584"/>
                <a:ext cx="1704569" cy="7087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de-DE" b="0" i="1" smtClean="0">
                              <a:latin typeface="Cambria Math"/>
                            </a:rPr>
                            <m:t>𝑄</m:t>
                          </m:r>
                        </m:sub>
                      </m:sSub>
                      <m:d>
                        <m:dPr>
                          <m:ctrlPr>
                            <a:rPr lang="de-DE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/>
                            </a:rPr>
                            <m:t>𝑠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de-DE" b="0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latin typeface="Cambria Math"/>
                                </a:rPr>
                                <m:t>V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latin typeface="Cambria Math"/>
                                </a:rPr>
                                <m:t>pC</m:t>
                              </m:r>
                              <m:r>
                                <a:rPr lang="de-DE">
                                  <a:latin typeface="Cambria Math"/>
                                  <a:ea typeface="Cambria Math"/>
                                </a:rPr>
                                <m:t>∙</m:t>
                              </m:r>
                              <m:r>
                                <a:rPr lang="de-DE" i="1">
                                  <a:latin typeface="Cambria Math"/>
                                  <a:ea typeface="Cambria Math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498" y="178584"/>
                <a:ext cx="1704569" cy="7087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stCxn id="23" idx="3"/>
          </p:cNvCxnSpPr>
          <p:nvPr/>
        </p:nvCxnSpPr>
        <p:spPr>
          <a:xfrm>
            <a:off x="2146250" y="2021985"/>
            <a:ext cx="256884" cy="532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157385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</Words>
  <Application>Microsoft Office PowerPoint</Application>
  <PresentationFormat>On-screen Show (4:3)</PresentationFormat>
  <Paragraphs>65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DESY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zagor</dc:creator>
  <cp:lastModifiedBy>Zagorodnov, Igor</cp:lastModifiedBy>
  <cp:revision>66</cp:revision>
  <dcterms:created xsi:type="dcterms:W3CDTF">2006-11-15T22:54:38Z</dcterms:created>
  <dcterms:modified xsi:type="dcterms:W3CDTF">2015-06-05T11:00:34Z</dcterms:modified>
</cp:coreProperties>
</file>