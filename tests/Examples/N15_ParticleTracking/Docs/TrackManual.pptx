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3" r:id="rId2"/>
    <p:sldId id="381" r:id="rId3"/>
    <p:sldId id="396" r:id="rId4"/>
    <p:sldId id="395" r:id="rId5"/>
    <p:sldId id="402" r:id="rId6"/>
    <p:sldId id="400" r:id="rId7"/>
    <p:sldId id="401" r:id="rId8"/>
    <p:sldId id="403" r:id="rId9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87">
          <p15:clr>
            <a:srgbClr val="A4A3A4"/>
          </p15:clr>
        </p15:guide>
        <p15:guide id="2" orient="horz" pos="167">
          <p15:clr>
            <a:srgbClr val="A4A3A4"/>
          </p15:clr>
        </p15:guide>
        <p15:guide id="3" orient="horz" pos="616">
          <p15:clr>
            <a:srgbClr val="A4A3A4"/>
          </p15:clr>
        </p15:guide>
        <p15:guide id="4" orient="horz" pos="2672">
          <p15:clr>
            <a:srgbClr val="A4A3A4"/>
          </p15:clr>
        </p15:guide>
        <p15:guide id="5" orient="horz" pos="1165">
          <p15:clr>
            <a:srgbClr val="A4A3A4"/>
          </p15:clr>
        </p15:guide>
        <p15:guide id="6" pos="5551">
          <p15:clr>
            <a:srgbClr val="A4A3A4"/>
          </p15:clr>
        </p15:guide>
        <p15:guide id="7" pos="1551">
          <p15:clr>
            <a:srgbClr val="A4A3A4"/>
          </p15:clr>
        </p15:guide>
        <p15:guide id="8" pos="4178">
          <p15:clr>
            <a:srgbClr val="A4A3A4"/>
          </p15:clr>
        </p15:guide>
        <p15:guide id="9" pos="2927">
          <p15:clr>
            <a:srgbClr val="A4A3A4"/>
          </p15:clr>
        </p15:guide>
        <p15:guide id="10" pos="2809">
          <p15:clr>
            <a:srgbClr val="A4A3A4"/>
          </p15:clr>
        </p15:guide>
        <p15:guide id="11" pos="178">
          <p15:clr>
            <a:srgbClr val="A4A3A4"/>
          </p15:clr>
        </p15:guide>
        <p15:guide id="12" pos="4299">
          <p15:clr>
            <a:srgbClr val="A4A3A4"/>
          </p15:clr>
        </p15:guide>
        <p15:guide id="13" pos="14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B86E00"/>
    <a:srgbClr val="BC7000"/>
    <a:srgbClr val="9C9E9F"/>
    <a:srgbClr val="FFFFFF"/>
    <a:srgbClr val="DDDDDD"/>
    <a:srgbClr val="00A5EB"/>
    <a:srgbClr val="FFCC00"/>
    <a:srgbClr val="FF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2" autoAdjust="0"/>
    <p:restoredTop sz="96054" autoAdjust="0"/>
  </p:normalViewPr>
  <p:slideViewPr>
    <p:cSldViewPr snapToGrid="0">
      <p:cViewPr varScale="1">
        <p:scale>
          <a:sx n="115" d="100"/>
          <a:sy n="115" d="100"/>
        </p:scale>
        <p:origin x="216" y="368"/>
      </p:cViewPr>
      <p:guideLst>
        <p:guide orient="horz" pos="3787"/>
        <p:guide orient="horz" pos="167"/>
        <p:guide orient="horz" pos="616"/>
        <p:guide orient="horz" pos="2672"/>
        <p:guide orient="horz" pos="1165"/>
        <p:guide pos="5551"/>
        <p:guide pos="1551"/>
        <p:guide pos="4178"/>
        <p:guide pos="2927"/>
        <p:guide pos="2809"/>
        <p:guide pos="178"/>
        <p:guide pos="4299"/>
        <p:guide pos="1435"/>
      </p:guideLst>
    </p:cSldViewPr>
  </p:slideViewPr>
  <p:outlineViewPr>
    <p:cViewPr>
      <p:scale>
        <a:sx n="33" d="100"/>
        <a:sy n="33" d="100"/>
      </p:scale>
      <p:origin x="0" y="77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9" d="100"/>
          <a:sy n="59" d="100"/>
        </p:scale>
        <p:origin x="-1704" y="-72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0725" y="0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/>
          <a:lstStyle>
            <a:lvl1pPr algn="r">
              <a:defRPr sz="1200"/>
            </a:lvl1pPr>
          </a:lstStyle>
          <a:p>
            <a:fld id="{1634200F-54F3-456B-879C-F134CFC7AD47}" type="datetimeFigureOut">
              <a:rPr lang="en-US" smtClean="0"/>
              <a:t>8/6/24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243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0725" y="9721243"/>
            <a:ext cx="3076917" cy="511731"/>
          </a:xfrm>
          <a:prstGeom prst="rect">
            <a:avLst/>
          </a:prstGeom>
        </p:spPr>
        <p:txBody>
          <a:bodyPr vert="horz" lIns="94759" tIns="47380" rIns="94759" bIns="47380" rtlCol="0" anchor="b"/>
          <a:lstStyle>
            <a:lvl1pPr algn="r">
              <a:defRPr sz="1200"/>
            </a:lvl1pPr>
          </a:lstStyle>
          <a:p>
            <a:fld id="{A572C722-C5AB-4A6F-8A47-996F24FE6D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1147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GB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725" y="0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endParaRPr lang="en-GB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Textmasterformate durch Klicken bearbeiten</a:t>
            </a:r>
          </a:p>
          <a:p>
            <a:pPr lvl="1"/>
            <a:r>
              <a:rPr lang="en-GB"/>
              <a:t>Zweite Ebene</a:t>
            </a:r>
          </a:p>
          <a:p>
            <a:pPr lvl="2"/>
            <a:r>
              <a:rPr lang="en-GB"/>
              <a:t>Dritte Ebene</a:t>
            </a:r>
          </a:p>
          <a:p>
            <a:pPr lvl="3"/>
            <a:r>
              <a:rPr lang="en-GB"/>
              <a:t>Vierte Ebene</a:t>
            </a:r>
          </a:p>
          <a:p>
            <a:pPr lvl="4"/>
            <a:r>
              <a:rPr lang="en-GB"/>
              <a:t>Fünfte Ebene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243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endParaRPr lang="en-GB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725" y="9721243"/>
            <a:ext cx="3076917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4759" tIns="47380" rIns="94759" bIns="4738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F78CA52-E024-45A9-A6DA-6EE92DD2B0F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9917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42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2715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565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0511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F78CA52-E024-45A9-A6DA-6EE92DD2B0FF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7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ChangeArrowheads="1"/>
          </p:cNvSpPr>
          <p:nvPr/>
        </p:nvSpPr>
        <p:spPr bwMode="auto">
          <a:xfrm>
            <a:off x="0" y="0"/>
            <a:ext cx="9144000" cy="1888621"/>
          </a:xfrm>
          <a:prstGeom prst="rect">
            <a:avLst/>
          </a:prstGeom>
          <a:solidFill>
            <a:srgbClr val="00A6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2100" y="1363663"/>
            <a:ext cx="8520113" cy="485775"/>
          </a:xfrm>
        </p:spPr>
        <p:txBody>
          <a:bodyPr/>
          <a:lstStyle>
            <a:lvl1pPr marL="0" indent="0">
              <a:buFont typeface="Arial Black" pitchFamily="34" charset="0"/>
              <a:buNone/>
              <a:defRPr b="1">
                <a:solidFill>
                  <a:srgbClr val="F28E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402436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282575" y="0"/>
            <a:ext cx="8520113" cy="1266825"/>
          </a:xfrm>
        </p:spPr>
        <p:txBody>
          <a:bodyPr anchor="b"/>
          <a:lstStyle>
            <a:lvl1pPr>
              <a:lnSpc>
                <a:spcPct val="80000"/>
              </a:lnSpc>
              <a:defRPr sz="40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pic>
        <p:nvPicPr>
          <p:cNvPr id="402441" name="Picture 9" descr="DESY-Logo-cyan-RGB_ger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554" t="-4523" r="-13409"/>
          <a:stretch>
            <a:fillRect/>
          </a:stretch>
        </p:blipFill>
        <p:spPr bwMode="auto">
          <a:xfrm>
            <a:off x="7794625" y="5684838"/>
            <a:ext cx="1149350" cy="1027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2442" name="Picture 10" descr="Helmholtz-Logo_schwarz_70_t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75" y="5959475"/>
            <a:ext cx="1647825" cy="58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2448" name="Text Box 16"/>
          <p:cNvSpPr txBox="1">
            <a:spLocks noChangeArrowheads="1"/>
          </p:cNvSpPr>
          <p:nvPr userDrawn="1"/>
        </p:nvSpPr>
        <p:spPr bwMode="auto">
          <a:xfrm>
            <a:off x="2003425" y="2481263"/>
            <a:ext cx="285591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3960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86575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82575" y="977900"/>
            <a:ext cx="4183063" cy="4792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18038" y="977900"/>
            <a:ext cx="4184650" cy="47926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212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4820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78668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040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638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65785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5498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80200" y="103188"/>
            <a:ext cx="2132013" cy="56673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82575" y="103188"/>
            <a:ext cx="6245225" cy="56673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3083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7D9135D-8DDD-4401-ACE6-E028F3AE8A7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765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/>
          <p:cNvSpPr>
            <a:spLocks noChangeArrowheads="1"/>
          </p:cNvSpPr>
          <p:nvPr/>
        </p:nvSpPr>
        <p:spPr bwMode="auto">
          <a:xfrm>
            <a:off x="0" y="-2"/>
            <a:ext cx="9144000" cy="541608"/>
          </a:xfrm>
          <a:prstGeom prst="rect">
            <a:avLst/>
          </a:prstGeom>
          <a:solidFill>
            <a:srgbClr val="00A6E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/>
          </a:p>
        </p:txBody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82575" y="977900"/>
            <a:ext cx="8520113" cy="479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Textmasterformate durch Klicken bearbeiten</a:t>
            </a:r>
          </a:p>
          <a:p>
            <a:pPr lvl="1"/>
            <a:r>
              <a:rPr lang="en-GB"/>
              <a:t>Zweite Ebene</a:t>
            </a:r>
          </a:p>
        </p:txBody>
      </p:sp>
      <p:sp>
        <p:nvSpPr>
          <p:cNvPr id="40141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92100" y="23163"/>
            <a:ext cx="8520113" cy="544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Titelmasterformat durch Klicken bearbeiten</a:t>
            </a:r>
          </a:p>
        </p:txBody>
      </p:sp>
      <p:sp>
        <p:nvSpPr>
          <p:cNvPr id="401413" name="Rectangle 5"/>
          <p:cNvSpPr>
            <a:spLocks noChangeArrowheads="1"/>
          </p:cNvSpPr>
          <p:nvPr/>
        </p:nvSpPr>
        <p:spPr bwMode="auto">
          <a:xfrm>
            <a:off x="282575" y="6280150"/>
            <a:ext cx="75930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 anchor="ctr"/>
          <a:lstStyle/>
          <a:p>
            <a:pPr algn="r" eaLnBrk="1" hangingPunct="1"/>
            <a:r>
              <a:rPr lang="en-US" sz="900" b="1" noProof="0" dirty="0">
                <a:solidFill>
                  <a:schemeClr val="bg2"/>
                </a:solidFill>
              </a:rPr>
              <a:t>Igor Zagorodnov</a:t>
            </a:r>
            <a:r>
              <a:rPr lang="en-US" sz="900" noProof="0" dirty="0">
                <a:solidFill>
                  <a:schemeClr val="bg2"/>
                </a:solidFill>
              </a:rPr>
              <a:t>| DESY |  May</a:t>
            </a:r>
            <a:r>
              <a:rPr lang="en-US" sz="900" baseline="0" noProof="0" dirty="0">
                <a:solidFill>
                  <a:schemeClr val="bg2"/>
                </a:solidFill>
              </a:rPr>
              <a:t> 2019</a:t>
            </a:r>
            <a:r>
              <a:rPr lang="en-US" sz="900" noProof="0" dirty="0">
                <a:solidFill>
                  <a:schemeClr val="bg2"/>
                </a:solidFill>
              </a:rPr>
              <a:t>  |  </a:t>
            </a:r>
            <a:r>
              <a:rPr lang="en-US" sz="900" b="1" noProof="0" dirty="0" err="1">
                <a:solidFill>
                  <a:schemeClr val="bg2"/>
                </a:solidFill>
              </a:rPr>
              <a:t>Seite</a:t>
            </a:r>
            <a:r>
              <a:rPr lang="en-US" sz="900" b="1" noProof="0" dirty="0">
                <a:solidFill>
                  <a:schemeClr val="bg2"/>
                </a:solidFill>
              </a:rPr>
              <a:t> </a:t>
            </a:r>
            <a:fld id="{9CF3698C-BB6B-42E9-B529-3BCF46D40F1F}" type="slidenum">
              <a:rPr lang="en-US" sz="900" b="1" noProof="0" smtClean="0">
                <a:solidFill>
                  <a:schemeClr val="bg2"/>
                </a:solidFill>
              </a:rPr>
              <a:pPr algn="r" eaLnBrk="1" hangingPunct="1"/>
              <a:t>‹#›</a:t>
            </a:fld>
            <a:endParaRPr lang="en-US" sz="900" b="1" noProof="0" dirty="0">
              <a:solidFill>
                <a:schemeClr val="bg2"/>
              </a:solidFill>
            </a:endParaRPr>
          </a:p>
        </p:txBody>
      </p:sp>
      <p:pic>
        <p:nvPicPr>
          <p:cNvPr id="401418" name="Picture 10" descr="DESY-Logo-cyan-RGB_ger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24" t="-7854" r="-18587" b="-12566"/>
          <a:stretch>
            <a:fillRect/>
          </a:stretch>
        </p:blipFill>
        <p:spPr bwMode="auto">
          <a:xfrm>
            <a:off x="8035925" y="6099175"/>
            <a:ext cx="776288" cy="73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</a:defRPr>
      </a:lvl9pPr>
    </p:titleStyle>
    <p:bodyStyle>
      <a:lvl1pPr marL="265113" indent="-265113" algn="l" rtl="0" eaLnBrk="1" fontAlgn="base" hangingPunct="1">
        <a:spcBef>
          <a:spcPct val="0"/>
        </a:spcBef>
        <a:spcAft>
          <a:spcPct val="50000"/>
        </a:spcAft>
        <a:buClr>
          <a:srgbClr val="F28E00"/>
        </a:buClr>
        <a:buFont typeface="Arial Black" pitchFamily="34" charset="0"/>
        <a:buChar char="&gt;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84150" algn="l" rtl="0" eaLnBrk="1" fontAlgn="base" hangingPunct="1">
        <a:spcBef>
          <a:spcPct val="0"/>
        </a:spcBef>
        <a:spcAft>
          <a:spcPct val="50000"/>
        </a:spcAft>
        <a:buClr>
          <a:schemeClr val="bg2"/>
        </a:buClr>
        <a:buFont typeface="Wingdings" pitchFamily="2" charset="2"/>
        <a:buChar char="§"/>
        <a:defRPr sz="1600">
          <a:solidFill>
            <a:schemeClr val="tx1"/>
          </a:solidFill>
          <a:latin typeface="+mn-lt"/>
        </a:defRPr>
      </a:lvl2pPr>
      <a:lvl3pPr marL="1236663" indent="-228600" algn="l" rtl="0" eaLnBrk="1" fontAlgn="base" hangingPunct="1">
        <a:spcBef>
          <a:spcPct val="0"/>
        </a:spcBef>
        <a:spcAft>
          <a:spcPct val="0"/>
        </a:spcAft>
        <a:buClr>
          <a:srgbClr val="FF9900"/>
        </a:buClr>
        <a:buFont typeface="Arial Black" pitchFamily="34" charset="0"/>
        <a:defRPr sz="1200">
          <a:solidFill>
            <a:schemeClr val="tx1"/>
          </a:solidFill>
          <a:latin typeface="+mn-lt"/>
        </a:defRPr>
      </a:lvl3pPr>
      <a:lvl4pPr marL="1644650" indent="-228600" algn="l" rtl="0" eaLnBrk="1" fontAlgn="base" hangingPunct="1">
        <a:spcBef>
          <a:spcPct val="0"/>
        </a:spcBef>
        <a:spcAft>
          <a:spcPct val="0"/>
        </a:spcAft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echo4d.d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74" name="Rectangle 30"/>
          <p:cNvSpPr>
            <a:spLocks noGrp="1" noChangeArrowheads="1"/>
          </p:cNvSpPr>
          <p:nvPr>
            <p:ph type="subTitle" idx="1"/>
          </p:nvPr>
        </p:nvSpPr>
        <p:spPr>
          <a:xfrm>
            <a:off x="549828" y="1974317"/>
            <a:ext cx="7214461" cy="952025"/>
          </a:xfrm>
          <a:noFill/>
        </p:spPr>
        <p:txBody>
          <a:bodyPr/>
          <a:lstStyle/>
          <a:p>
            <a:pPr algn="ctr"/>
            <a:r>
              <a:rPr lang="en-US" sz="3000" dirty="0"/>
              <a:t>ECHO2D with m=0 mode only </a:t>
            </a:r>
          </a:p>
        </p:txBody>
      </p:sp>
      <p:sp>
        <p:nvSpPr>
          <p:cNvPr id="185373" name="Rectangle 29"/>
          <p:cNvSpPr>
            <a:spLocks noGrp="1" noChangeArrowheads="1"/>
          </p:cNvSpPr>
          <p:nvPr>
            <p:ph type="ctrTitle" sz="quarter"/>
          </p:nvPr>
        </p:nvSpPr>
        <p:spPr>
          <a:xfrm>
            <a:off x="83127" y="0"/>
            <a:ext cx="8996218" cy="1355075"/>
          </a:xfrm>
        </p:spPr>
        <p:txBody>
          <a:bodyPr/>
          <a:lstStyle/>
          <a:p>
            <a:pPr algn="ctr"/>
            <a:r>
              <a:rPr lang="en-US" sz="4400" dirty="0"/>
              <a:t>Manual of Particle Tracking</a:t>
            </a:r>
          </a:p>
        </p:txBody>
      </p:sp>
      <p:sp>
        <p:nvSpPr>
          <p:cNvPr id="185379" name="Text Box 35"/>
          <p:cNvSpPr txBox="1">
            <a:spLocks noChangeArrowheads="1"/>
          </p:cNvSpPr>
          <p:nvPr/>
        </p:nvSpPr>
        <p:spPr bwMode="auto">
          <a:xfrm>
            <a:off x="3847762" y="2805256"/>
            <a:ext cx="506577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Igor Zagorodnov</a:t>
            </a:r>
          </a:p>
          <a:p>
            <a:pPr algn="ctr"/>
            <a:endParaRPr lang="en-US" sz="2400" dirty="0">
              <a:solidFill>
                <a:srgbClr val="00A5EB"/>
              </a:solidFill>
            </a:endParaRPr>
          </a:p>
          <a:p>
            <a:pPr algn="ctr"/>
            <a:r>
              <a:rPr lang="en-US" sz="2400" dirty="0">
                <a:solidFill>
                  <a:schemeClr val="accent1"/>
                </a:solidFill>
              </a:rPr>
              <a:t>DESY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Hamburg</a:t>
            </a:r>
          </a:p>
          <a:p>
            <a:pPr algn="ctr"/>
            <a:r>
              <a:rPr lang="en-US" sz="2400" dirty="0"/>
              <a:t>May 2019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Geometry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71488" y="571500"/>
            <a:ext cx="9278772" cy="5479108"/>
            <a:chOff x="-71488" y="571500"/>
            <a:chExt cx="9278772" cy="5479108"/>
          </a:xfrm>
        </p:grpSpPr>
        <p:sp>
          <p:nvSpPr>
            <p:cNvPr id="7" name="Freeform 6"/>
            <p:cNvSpPr/>
            <p:nvPr/>
          </p:nvSpPr>
          <p:spPr bwMode="auto">
            <a:xfrm>
              <a:off x="982980" y="1257300"/>
              <a:ext cx="7166610" cy="2891790"/>
            </a:xfrm>
            <a:custGeom>
              <a:avLst/>
              <a:gdLst>
                <a:gd name="connsiteX0" fmla="*/ 0 w 7166610"/>
                <a:gd name="connsiteY0" fmla="*/ 0 h 2891790"/>
                <a:gd name="connsiteX1" fmla="*/ 1440180 w 7166610"/>
                <a:gd name="connsiteY1" fmla="*/ 0 h 2891790"/>
                <a:gd name="connsiteX2" fmla="*/ 1428750 w 7166610"/>
                <a:gd name="connsiteY2" fmla="*/ 2891790 h 2891790"/>
                <a:gd name="connsiteX3" fmla="*/ 3611880 w 7166610"/>
                <a:gd name="connsiteY3" fmla="*/ 2891790 h 2891790"/>
                <a:gd name="connsiteX4" fmla="*/ 3577590 w 7166610"/>
                <a:gd name="connsiteY4" fmla="*/ 0 h 2891790"/>
                <a:gd name="connsiteX5" fmla="*/ 7166610 w 7166610"/>
                <a:gd name="connsiteY5" fmla="*/ 0 h 2891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6610" h="2891790">
                  <a:moveTo>
                    <a:pt x="0" y="0"/>
                  </a:moveTo>
                  <a:lnTo>
                    <a:pt x="1440180" y="0"/>
                  </a:lnTo>
                  <a:lnTo>
                    <a:pt x="1428750" y="2891790"/>
                  </a:lnTo>
                  <a:lnTo>
                    <a:pt x="3611880" y="2891790"/>
                  </a:lnTo>
                  <a:lnTo>
                    <a:pt x="3577590" y="0"/>
                  </a:lnTo>
                  <a:lnTo>
                    <a:pt x="7166610" y="0"/>
                  </a:lnTo>
                </a:path>
              </a:pathLst>
            </a:custGeom>
            <a:noFill/>
            <a:ln w="508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Freeform 8"/>
            <p:cNvSpPr/>
            <p:nvPr/>
          </p:nvSpPr>
          <p:spPr bwMode="auto">
            <a:xfrm>
              <a:off x="2400300" y="4286250"/>
              <a:ext cx="2194560" cy="240030"/>
            </a:xfrm>
            <a:custGeom>
              <a:avLst/>
              <a:gdLst>
                <a:gd name="connsiteX0" fmla="*/ 0 w 2194560"/>
                <a:gd name="connsiteY0" fmla="*/ 0 h 240030"/>
                <a:gd name="connsiteX1" fmla="*/ 2183130 w 2194560"/>
                <a:gd name="connsiteY1" fmla="*/ 0 h 240030"/>
                <a:gd name="connsiteX2" fmla="*/ 2194560 w 2194560"/>
                <a:gd name="connsiteY2" fmla="*/ 228600 h 240030"/>
                <a:gd name="connsiteX3" fmla="*/ 0 w 2194560"/>
                <a:gd name="connsiteY3" fmla="*/ 240030 h 240030"/>
                <a:gd name="connsiteX4" fmla="*/ 0 w 2194560"/>
                <a:gd name="connsiteY4" fmla="*/ 0 h 240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94560" h="240030">
                  <a:moveTo>
                    <a:pt x="0" y="0"/>
                  </a:moveTo>
                  <a:lnTo>
                    <a:pt x="2183130" y="0"/>
                  </a:lnTo>
                  <a:lnTo>
                    <a:pt x="2194560" y="228600"/>
                  </a:lnTo>
                  <a:lnTo>
                    <a:pt x="0" y="2400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cxnSp>
          <p:nvCxnSpPr>
            <p:cNvPr id="3" name="Straight Connector 2"/>
            <p:cNvCxnSpPr/>
            <p:nvPr/>
          </p:nvCxnSpPr>
          <p:spPr bwMode="auto">
            <a:xfrm>
              <a:off x="217170" y="5587365"/>
              <a:ext cx="869823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" name="Straight Connector 7"/>
            <p:cNvCxnSpPr/>
            <p:nvPr/>
          </p:nvCxnSpPr>
          <p:spPr bwMode="auto">
            <a:xfrm flipV="1">
              <a:off x="754380" y="571500"/>
              <a:ext cx="0" cy="496062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1" name="Straight Connector 10"/>
            <p:cNvCxnSpPr>
              <a:stCxn id="9" idx="3"/>
            </p:cNvCxnSpPr>
            <p:nvPr/>
          </p:nvCxnSpPr>
          <p:spPr bwMode="auto">
            <a:xfrm>
              <a:off x="2400300" y="4526280"/>
              <a:ext cx="0" cy="106299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auto">
            <a:xfrm>
              <a:off x="4566285" y="4570095"/>
              <a:ext cx="0" cy="106299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auto">
            <a:xfrm flipH="1">
              <a:off x="982980" y="1257300"/>
              <a:ext cx="3810" cy="433197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auto">
            <a:xfrm flipH="1">
              <a:off x="8130540" y="1301115"/>
              <a:ext cx="3810" cy="433197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endCxn id="9" idx="3"/>
            </p:cNvCxnSpPr>
            <p:nvPr/>
          </p:nvCxnSpPr>
          <p:spPr bwMode="auto">
            <a:xfrm>
              <a:off x="754380" y="452628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auto">
            <a:xfrm>
              <a:off x="754380" y="432435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auto">
            <a:xfrm>
              <a:off x="754380" y="414909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auto">
            <a:xfrm>
              <a:off x="754380" y="1257300"/>
              <a:ext cx="1645920" cy="0"/>
            </a:xfrm>
            <a:prstGeom prst="line">
              <a:avLst/>
            </a:prstGeom>
            <a:ln w="25400"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2251060" y="565049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325674" y="5650498"/>
              <a:ext cx="470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80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886537" y="5603974"/>
              <a:ext cx="6126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200</a:t>
              </a:r>
            </a:p>
          </p:txBody>
        </p:sp>
        <p:graphicFrame>
          <p:nvGraphicFramePr>
            <p:cNvPr id="24" name="Object 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08067934"/>
                </p:ext>
              </p:extLst>
            </p:nvPr>
          </p:nvGraphicFramePr>
          <p:xfrm>
            <a:off x="8391832" y="5648087"/>
            <a:ext cx="815452" cy="3968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69800" imgH="228600" progId="Equation.DSMT4">
                    <p:embed/>
                  </p:oleObj>
                </mc:Choice>
                <mc:Fallback>
                  <p:oleObj name="Equation" r:id="rId3" imgW="469800" imgH="22860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91832" y="5648087"/>
                          <a:ext cx="815452" cy="3968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2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9936396"/>
                </p:ext>
              </p:extLst>
            </p:nvPr>
          </p:nvGraphicFramePr>
          <p:xfrm>
            <a:off x="-61881" y="571500"/>
            <a:ext cx="780301" cy="3797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69800" imgH="228600" progId="Equation.DSMT4">
                    <p:embed/>
                  </p:oleObj>
                </mc:Choice>
                <mc:Fallback>
                  <p:oleObj name="Equation" r:id="rId5" imgW="469800" imgH="22860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61881" y="571500"/>
                          <a:ext cx="780301" cy="3797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TextBox 29"/>
            <p:cNvSpPr txBox="1"/>
            <p:nvPr/>
          </p:nvSpPr>
          <p:spPr>
            <a:xfrm>
              <a:off x="754380" y="5648087"/>
              <a:ext cx="62549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-0.3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-71487" y="4406265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0.725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-71487" y="4126170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0.900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-71488" y="3866670"/>
              <a:ext cx="82586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1.000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-155" y="1057245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2</a:t>
              </a:r>
            </a:p>
          </p:txBody>
        </p:sp>
        <p:graphicFrame>
          <p:nvGraphicFramePr>
            <p:cNvPr id="29" name="Object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4936005"/>
                </p:ext>
              </p:extLst>
            </p:nvPr>
          </p:nvGraphicFramePr>
          <p:xfrm>
            <a:off x="4795674" y="4185920"/>
            <a:ext cx="1150937" cy="3841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33160" imgH="177480" progId="Equation.DSMT4">
                    <p:embed/>
                  </p:oleObj>
                </mc:Choice>
                <mc:Fallback>
                  <p:oleObj name="Equation" r:id="rId7" imgW="533160" imgH="17748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5674" y="4185920"/>
                          <a:ext cx="1150937" cy="3841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E26F18E-522D-4C48-8B47-94105EA533A1}"/>
              </a:ext>
            </a:extLst>
          </p:cNvPr>
          <p:cNvSpPr txBox="1"/>
          <p:nvPr/>
        </p:nvSpPr>
        <p:spPr>
          <a:xfrm>
            <a:off x="4789688" y="1457355"/>
            <a:ext cx="34034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File </a:t>
            </a:r>
            <a:r>
              <a:rPr lang="en-US" sz="2000" b="1" dirty="0" err="1"/>
              <a:t>pipe.txt</a:t>
            </a:r>
            <a:r>
              <a:rPr lang="en-US" sz="2000" dirty="0"/>
              <a:t>. The format can be found in the manual on www.echo4d.de.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6526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Comand</a:t>
            </a:r>
            <a:r>
              <a:rPr lang="en-US" dirty="0"/>
              <a:t> File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77784" y="659823"/>
            <a:ext cx="7290559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File </a:t>
            </a:r>
            <a:r>
              <a:rPr lang="en-US" sz="2000" b="1" dirty="0" err="1"/>
              <a:t>input_in.txt</a:t>
            </a:r>
            <a:r>
              <a:rPr lang="en-US" sz="2000" dirty="0"/>
              <a:t>. The format can be found in the manual on </a:t>
            </a:r>
            <a:r>
              <a:rPr lang="en-US" sz="2000" dirty="0">
                <a:hlinkClick r:id="rId3"/>
              </a:rPr>
              <a:t>www.echo4d.de</a:t>
            </a:r>
            <a:r>
              <a:rPr lang="en-US" sz="2000" dirty="0"/>
              <a:t>. Only additional critical parameters are listed below </a:t>
            </a:r>
          </a:p>
          <a:p>
            <a:endParaRPr lang="en-US" sz="2000" dirty="0"/>
          </a:p>
          <a:p>
            <a:r>
              <a:rPr lang="en-US" sz="2000" dirty="0" err="1"/>
              <a:t>InPartFile</a:t>
            </a:r>
            <a:r>
              <a:rPr lang="en-US" sz="2000" dirty="0"/>
              <a:t>=</a:t>
            </a:r>
            <a:r>
              <a:rPr lang="en-US" sz="2000" dirty="0" err="1"/>
              <a:t>InParticles</a:t>
            </a:r>
            <a:r>
              <a:rPr lang="en-US" sz="2000" dirty="0"/>
              <a:t>/</a:t>
            </a:r>
            <a:r>
              <a:rPr lang="en-US" sz="2000" dirty="0" err="1"/>
              <a:t>Particles.in</a:t>
            </a:r>
            <a:endParaRPr lang="en-US" sz="2000" dirty="0"/>
          </a:p>
          <a:p>
            <a:r>
              <a:rPr lang="en-US" sz="2000" dirty="0" err="1"/>
              <a:t>InFieldDir</a:t>
            </a:r>
            <a:r>
              <a:rPr lang="en-US" sz="2000" dirty="0"/>
              <a:t>=-</a:t>
            </a:r>
          </a:p>
          <a:p>
            <a:r>
              <a:rPr lang="en-US" sz="2000" dirty="0"/>
              <a:t>Modes=0 </a:t>
            </a:r>
          </a:p>
          <a:p>
            <a:r>
              <a:rPr lang="en-US" sz="2000" dirty="0" err="1"/>
              <a:t>ParticleMotion</a:t>
            </a:r>
            <a:r>
              <a:rPr lang="en-US" sz="2000" dirty="0"/>
              <a:t>=1</a:t>
            </a:r>
          </a:p>
          <a:p>
            <a:r>
              <a:rPr lang="en-US" sz="2000" dirty="0" err="1"/>
              <a:t>ParticleField</a:t>
            </a:r>
            <a:r>
              <a:rPr lang="en-US" sz="2000" dirty="0"/>
              <a:t>=1</a:t>
            </a:r>
          </a:p>
          <a:p>
            <a:r>
              <a:rPr lang="en-US" sz="2000" dirty="0" err="1"/>
              <a:t>CurrentFilter</a:t>
            </a:r>
            <a:r>
              <a:rPr lang="en-US" sz="2000" dirty="0"/>
              <a:t>=1</a:t>
            </a:r>
          </a:p>
          <a:p>
            <a:r>
              <a:rPr lang="en-US" sz="2000" dirty="0" err="1"/>
              <a:t>ParticleLoss</a:t>
            </a:r>
            <a:r>
              <a:rPr lang="en-US" sz="2000" dirty="0"/>
              <a:t>=1.            </a:t>
            </a:r>
          </a:p>
          <a:p>
            <a:r>
              <a:rPr lang="en-US" sz="2000" dirty="0" err="1"/>
              <a:t>BeamMonitor</a:t>
            </a:r>
            <a:r>
              <a:rPr lang="en-US" sz="2000" dirty="0"/>
              <a:t>=1 	20000 	10 	500</a:t>
            </a:r>
          </a:p>
          <a:p>
            <a:r>
              <a:rPr lang="en-US" sz="2000" dirty="0" err="1"/>
              <a:t>DumpParticles</a:t>
            </a:r>
            <a:r>
              <a:rPr lang="en-US" sz="2000" dirty="0"/>
              <a:t>=1</a:t>
            </a:r>
          </a:p>
          <a:p>
            <a:endParaRPr lang="en-US" sz="2000" dirty="0"/>
          </a:p>
          <a:p>
            <a:r>
              <a:rPr lang="en-US" sz="2000" dirty="0" err="1"/>
              <a:t>ParticleLoss</a:t>
            </a:r>
            <a:r>
              <a:rPr lang="en-US" sz="2000" dirty="0"/>
              <a:t>=1 means that the particle in material will be lost.</a:t>
            </a:r>
          </a:p>
          <a:p>
            <a:r>
              <a:rPr lang="en-US" sz="2000" dirty="0" err="1"/>
              <a:t>BeamMonitor</a:t>
            </a:r>
            <a:r>
              <a:rPr lang="en-US" sz="2000" dirty="0"/>
              <a:t> parameters mean that the beam parameters will be saved from step 1 to step 20000 with interval 10 and in the same time the particle distributions will be saved with interval 500.</a:t>
            </a:r>
          </a:p>
        </p:txBody>
      </p:sp>
    </p:spTree>
    <p:extLst>
      <p:ext uri="{BB962C8B-B14F-4D97-AF65-F5344CB8AC3E}">
        <p14:creationId xmlns:p14="http://schemas.microsoft.com/office/powerpoint/2010/main" val="3818432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19C58-0B3E-7A47-9DE8-CC239F043842}"/>
              </a:ext>
            </a:extLst>
          </p:cNvPr>
          <p:cNvSpPr txBox="1"/>
          <p:nvPr/>
        </p:nvSpPr>
        <p:spPr>
          <a:xfrm>
            <a:off x="677784" y="659823"/>
            <a:ext cx="72905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sz="2000" dirty="0"/>
          </a:p>
          <a:p>
            <a:pPr marL="457200" indent="-457200">
              <a:buFontTx/>
              <a:buAutoNum type="arabicPeriod"/>
            </a:pPr>
            <a:r>
              <a:rPr lang="en-US" sz="2000" dirty="0"/>
              <a:t>Start </a:t>
            </a:r>
            <a:r>
              <a:rPr lang="en-US" sz="2000" b="1" dirty="0" err="1"/>
              <a:t>ECHOD_GUI.exe</a:t>
            </a:r>
            <a:r>
              <a:rPr lang="en-US" sz="2000" b="1" dirty="0"/>
              <a:t> </a:t>
            </a:r>
            <a:r>
              <a:rPr lang="en-US" sz="2000" dirty="0"/>
              <a:t>under Windows and open </a:t>
            </a:r>
            <a:r>
              <a:rPr lang="en-US" sz="2000" b="1" dirty="0"/>
              <a:t>pitz.echo2d</a:t>
            </a:r>
            <a:r>
              <a:rPr lang="en-US" sz="2000" dirty="0"/>
              <a:t>.  Go to menu “Solver/Start”. You will see the calculation. You can go directly to the next slide or start from point 2 if you have your own input ASTRA file.</a:t>
            </a:r>
          </a:p>
          <a:p>
            <a:pPr marL="457200" indent="-457200">
              <a:buAutoNum type="arabicPeriod"/>
            </a:pPr>
            <a:r>
              <a:rPr lang="en-US" sz="2000" dirty="0"/>
              <a:t>Place an input particle distribution in ASTRA format in directory ASTRA. In our case it is </a:t>
            </a:r>
            <a:r>
              <a:rPr lang="en-US" sz="2000" b="1" dirty="0"/>
              <a:t>dlw.0166.001</a:t>
            </a:r>
            <a:r>
              <a:rPr lang="en-US" sz="2000" dirty="0"/>
              <a:t>. </a:t>
            </a:r>
          </a:p>
          <a:p>
            <a:pPr marL="457200" indent="-457200">
              <a:buAutoNum type="arabicPeriod"/>
            </a:pPr>
            <a:r>
              <a:rPr lang="en-US" sz="2000" dirty="0"/>
              <a:t>Open </a:t>
            </a:r>
            <a:r>
              <a:rPr lang="en-US" sz="2000" dirty="0" err="1"/>
              <a:t>Matlab</a:t>
            </a:r>
            <a:r>
              <a:rPr lang="en-US" sz="2000" dirty="0"/>
              <a:t> and add </a:t>
            </a:r>
            <a:r>
              <a:rPr lang="en-US" sz="2000" b="1" dirty="0" err="1"/>
              <a:t>MatlabLib</a:t>
            </a:r>
            <a:r>
              <a:rPr lang="en-US" sz="2000" dirty="0"/>
              <a:t> directory to the search paths.</a:t>
            </a:r>
          </a:p>
          <a:p>
            <a:pPr marL="457200" indent="-457200">
              <a:buAutoNum type="arabicPeriod"/>
            </a:pPr>
            <a:r>
              <a:rPr lang="en-US" sz="2000" dirty="0"/>
              <a:t>Run </a:t>
            </a:r>
            <a:r>
              <a:rPr lang="en-US" sz="2000" dirty="0" err="1"/>
              <a:t>matlab</a:t>
            </a:r>
            <a:r>
              <a:rPr lang="en-US" sz="2000" dirty="0"/>
              <a:t> script </a:t>
            </a:r>
            <a:r>
              <a:rPr lang="en-US" sz="2000" b="1" dirty="0"/>
              <a:t>Preprocessor/ASTRA_2_ECHO.m</a:t>
            </a:r>
            <a:r>
              <a:rPr lang="en-US" sz="2000" dirty="0"/>
              <a:t>. It places the input particle distribution in ECHO format in directory </a:t>
            </a:r>
            <a:r>
              <a:rPr lang="en-US" sz="2000" b="1" dirty="0"/>
              <a:t>ECHO2D/</a:t>
            </a:r>
            <a:r>
              <a:rPr lang="en-US" sz="2000" b="1" dirty="0" err="1"/>
              <a:t>InParticles</a:t>
            </a:r>
            <a:r>
              <a:rPr lang="en-US" sz="2000" dirty="0"/>
              <a:t>.</a:t>
            </a:r>
          </a:p>
          <a:p>
            <a:pPr marL="457200" indent="-457200">
              <a:buAutoNum type="arabicPeriod"/>
            </a:pPr>
            <a:r>
              <a:rPr lang="en-US" sz="2000" dirty="0"/>
              <a:t>Start </a:t>
            </a:r>
            <a:r>
              <a:rPr lang="en-US" sz="2000" b="1" dirty="0" err="1"/>
              <a:t>ECHOD_GUI.exe</a:t>
            </a:r>
            <a:r>
              <a:rPr lang="en-US" sz="2000" b="1" dirty="0"/>
              <a:t> </a:t>
            </a:r>
            <a:r>
              <a:rPr lang="en-US" sz="2000" dirty="0"/>
              <a:t>under Windows and open </a:t>
            </a:r>
            <a:r>
              <a:rPr lang="en-US" sz="2000" b="1" dirty="0"/>
              <a:t>pitz.echo2d</a:t>
            </a:r>
            <a:r>
              <a:rPr lang="en-US" sz="2000" dirty="0"/>
              <a:t>. Go to menu “Solver/Start”. You will see the calculation. </a:t>
            </a:r>
          </a:p>
          <a:p>
            <a:pPr marL="457200" indent="-457200"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472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0164E-9A03-974F-BAF6-94BF408E0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121" y="1365661"/>
            <a:ext cx="8026639" cy="287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85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19C58-0B3E-7A47-9DE8-CC239F043842}"/>
              </a:ext>
            </a:extLst>
          </p:cNvPr>
          <p:cNvSpPr txBox="1"/>
          <p:nvPr/>
        </p:nvSpPr>
        <p:spPr>
          <a:xfrm>
            <a:off x="677784" y="659823"/>
            <a:ext cx="72905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sz="2000" dirty="0"/>
          </a:p>
          <a:p>
            <a:r>
              <a:rPr lang="en-US" sz="2000" dirty="0"/>
              <a:t>7. Start script Postprocessor/</a:t>
            </a:r>
            <a:r>
              <a:rPr lang="en-US" sz="2000" dirty="0" err="1"/>
              <a:t>SeeBeamMoments</a:t>
            </a:r>
            <a:r>
              <a:rPr lang="en-US" sz="2000" dirty="0"/>
              <a:t> to see the next plots.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2C59AE-58FE-D706-16E7-84519FFB2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832" y="2031560"/>
            <a:ext cx="8564381" cy="381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565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19C58-0B3E-7A47-9DE8-CC239F043842}"/>
              </a:ext>
            </a:extLst>
          </p:cNvPr>
          <p:cNvSpPr txBox="1"/>
          <p:nvPr/>
        </p:nvSpPr>
        <p:spPr>
          <a:xfrm>
            <a:off x="677784" y="659823"/>
            <a:ext cx="72905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sz="2000" dirty="0"/>
          </a:p>
          <a:p>
            <a:r>
              <a:rPr lang="en-US" sz="2000" dirty="0"/>
              <a:t>8. Run script </a:t>
            </a:r>
            <a:r>
              <a:rPr lang="en-US" sz="2000" b="1" dirty="0"/>
              <a:t>Postprocessor/ECHO_2_ASTRA</a:t>
            </a:r>
            <a:r>
              <a:rPr lang="en-US" sz="2000" dirty="0"/>
              <a:t>.m to convert the output particle distribution to ASTRA format.</a:t>
            </a:r>
          </a:p>
          <a:p>
            <a:r>
              <a:rPr lang="en-US" sz="2000" dirty="0"/>
              <a:t>9. Run script </a:t>
            </a:r>
            <a:r>
              <a:rPr lang="en-US" sz="2000" b="1" dirty="0"/>
              <a:t>Postprocessor/</a:t>
            </a:r>
            <a:r>
              <a:rPr lang="en-US" sz="2000" b="1" dirty="0" err="1"/>
              <a:t>AnalyseParticles.m</a:t>
            </a:r>
            <a:r>
              <a:rPr lang="en-US" sz="2000" b="1" dirty="0"/>
              <a:t> </a:t>
            </a:r>
            <a:r>
              <a:rPr lang="en-US" sz="2000" dirty="0"/>
              <a:t>to see beam properties.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04EAB5-788D-DAB0-7642-15D5D5C42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566" y="2291039"/>
            <a:ext cx="4817328" cy="399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98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A19C58-0B3E-7A47-9DE8-CC239F043842}"/>
              </a:ext>
            </a:extLst>
          </p:cNvPr>
          <p:cNvSpPr txBox="1"/>
          <p:nvPr/>
        </p:nvSpPr>
        <p:spPr>
          <a:xfrm>
            <a:off x="677784" y="659823"/>
            <a:ext cx="72905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endParaRPr lang="en-US" sz="2000" dirty="0"/>
          </a:p>
          <a:p>
            <a:r>
              <a:rPr lang="en-US" sz="2000" dirty="0"/>
              <a:t>10. GUI interface has bug. In order to start a new simulation close the program and start it again.</a:t>
            </a:r>
          </a:p>
          <a:p>
            <a:r>
              <a:rPr lang="en-US" sz="2000" dirty="0"/>
              <a:t>11. If the simulations with GUI is OK then you can try the console version ECHO2D.exe or </a:t>
            </a:r>
            <a:r>
              <a:rPr lang="en-US" sz="2000" dirty="0" err="1"/>
              <a:t>linux</a:t>
            </a:r>
            <a:r>
              <a:rPr lang="en-US" sz="2000" dirty="0"/>
              <a:t> version of ECHO2D. </a:t>
            </a:r>
          </a:p>
        </p:txBody>
      </p:sp>
    </p:spTree>
    <p:extLst>
      <p:ext uri="{BB962C8B-B14F-4D97-AF65-F5344CB8AC3E}">
        <p14:creationId xmlns:p14="http://schemas.microsoft.com/office/powerpoint/2010/main" val="1423921918"/>
      </p:ext>
    </p:extLst>
  </p:cSld>
  <p:clrMapOvr>
    <a:masterClrMapping/>
  </p:clrMapOvr>
</p:sld>
</file>

<file path=ppt/theme/theme1.xml><?xml version="1.0" encoding="utf-8"?>
<a:theme xmlns:a="http://schemas.openxmlformats.org/drawingml/2006/main" name="PPT-Vorlage_de">
  <a:themeElements>
    <a:clrScheme name="2_DESY_Vortrag_3-1 14">
      <a:dk1>
        <a:srgbClr val="000000"/>
      </a:dk1>
      <a:lt1>
        <a:srgbClr val="FFFFFF"/>
      </a:lt1>
      <a:dk2>
        <a:srgbClr val="FFFFFF"/>
      </a:dk2>
      <a:lt2>
        <a:srgbClr val="808080"/>
      </a:lt2>
      <a:accent1>
        <a:srgbClr val="00A5EB"/>
      </a:accent1>
      <a:accent2>
        <a:srgbClr val="F28E00"/>
      </a:accent2>
      <a:accent3>
        <a:srgbClr val="FFFFFF"/>
      </a:accent3>
      <a:accent4>
        <a:srgbClr val="000000"/>
      </a:accent4>
      <a:accent5>
        <a:srgbClr val="AACFF3"/>
      </a:accent5>
      <a:accent6>
        <a:srgbClr val="DB8000"/>
      </a:accent6>
      <a:hlink>
        <a:srgbClr val="00A5EB"/>
      </a:hlink>
      <a:folHlink>
        <a:srgbClr val="808080"/>
      </a:folHlink>
    </a:clrScheme>
    <a:fontScheme name="2_DESY_Vortrag_3-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DESY_Vortrag_3-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SY_Vortrag_3-1 13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A5EB"/>
        </a:accent1>
        <a:accent2>
          <a:srgbClr val="F28E00"/>
        </a:accent2>
        <a:accent3>
          <a:srgbClr val="FFFFFF"/>
        </a:accent3>
        <a:accent4>
          <a:srgbClr val="000000"/>
        </a:accent4>
        <a:accent5>
          <a:srgbClr val="AACFF3"/>
        </a:accent5>
        <a:accent6>
          <a:srgbClr val="DB8000"/>
        </a:accent6>
        <a:hlink>
          <a:srgbClr val="00A5EB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SY_Vortrag_3-1 14">
        <a:dk1>
          <a:srgbClr val="000000"/>
        </a:dk1>
        <a:lt1>
          <a:srgbClr val="FFFFFF"/>
        </a:lt1>
        <a:dk2>
          <a:srgbClr val="FFFFFF"/>
        </a:dk2>
        <a:lt2>
          <a:srgbClr val="808080"/>
        </a:lt2>
        <a:accent1>
          <a:srgbClr val="00A5EB"/>
        </a:accent1>
        <a:accent2>
          <a:srgbClr val="F28E00"/>
        </a:accent2>
        <a:accent3>
          <a:srgbClr val="FFFFFF"/>
        </a:accent3>
        <a:accent4>
          <a:srgbClr val="000000"/>
        </a:accent4>
        <a:accent5>
          <a:srgbClr val="AACFF3"/>
        </a:accent5>
        <a:accent6>
          <a:srgbClr val="DB8000"/>
        </a:accent6>
        <a:hlink>
          <a:srgbClr val="00A5EB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409</Words>
  <Application>Microsoft Macintosh PowerPoint</Application>
  <PresentationFormat>On-screen Show (4:3)</PresentationFormat>
  <Paragraphs>59</Paragraphs>
  <Slides>8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Wingdings</vt:lpstr>
      <vt:lpstr>PPT-Vorlage_de</vt:lpstr>
      <vt:lpstr>Equation</vt:lpstr>
      <vt:lpstr>Manual of Particle Tracking</vt:lpstr>
      <vt:lpstr>Geometry</vt:lpstr>
      <vt:lpstr>Comand File</vt:lpstr>
      <vt:lpstr>Workflow</vt:lpstr>
      <vt:lpstr>Workflow</vt:lpstr>
      <vt:lpstr>Workflow</vt:lpstr>
      <vt:lpstr>Workflow</vt:lpstr>
      <vt:lpstr>Workflow</vt:lpstr>
    </vt:vector>
  </TitlesOfParts>
  <Company>DESY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Zagorodnov, Igor</dc:creator>
  <cp:lastModifiedBy>Microsoft Office User</cp:lastModifiedBy>
  <cp:revision>855</cp:revision>
  <cp:lastPrinted>2016-04-19T14:07:30Z</cp:lastPrinted>
  <dcterms:created xsi:type="dcterms:W3CDTF">2012-01-18T19:29:16Z</dcterms:created>
  <dcterms:modified xsi:type="dcterms:W3CDTF">2024-08-06T09:32:17Z</dcterms:modified>
</cp:coreProperties>
</file>