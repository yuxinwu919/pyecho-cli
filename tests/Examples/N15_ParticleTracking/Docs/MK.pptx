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63" r:id="rId2"/>
    <p:sldId id="381" r:id="rId3"/>
    <p:sldId id="396" r:id="rId4"/>
    <p:sldId id="395" r:id="rId5"/>
    <p:sldId id="382" r:id="rId6"/>
    <p:sldId id="397" r:id="rId7"/>
    <p:sldId id="383" r:id="rId8"/>
    <p:sldId id="386" r:id="rId9"/>
    <p:sldId id="387" r:id="rId10"/>
    <p:sldId id="398" r:id="rId11"/>
    <p:sldId id="388" r:id="rId12"/>
    <p:sldId id="384" r:id="rId13"/>
    <p:sldId id="385" r:id="rId14"/>
    <p:sldId id="389" r:id="rId15"/>
    <p:sldId id="399" r:id="rId16"/>
    <p:sldId id="393" r:id="rId17"/>
    <p:sldId id="390" r:id="rId18"/>
    <p:sldId id="391" r:id="rId19"/>
    <p:sldId id="392" r:id="rId20"/>
  </p:sldIdLst>
  <p:sldSz cx="9144000" cy="6858000" type="screen4x3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B86E00"/>
    <a:srgbClr val="BC7000"/>
    <a:srgbClr val="9C9E9F"/>
    <a:srgbClr val="FFFFFF"/>
    <a:srgbClr val="DDDDDD"/>
    <a:srgbClr val="00A5EB"/>
    <a:srgbClr val="FFCC00"/>
    <a:srgbClr val="FF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6" autoAdjust="0"/>
    <p:restoredTop sz="96370" autoAdjust="0"/>
  </p:normalViewPr>
  <p:slideViewPr>
    <p:cSldViewPr snapToGrid="0">
      <p:cViewPr varScale="1">
        <p:scale>
          <a:sx n="103" d="100"/>
          <a:sy n="103" d="100"/>
        </p:scale>
        <p:origin x="-840" y="-101"/>
      </p:cViewPr>
      <p:guideLst>
        <p:guide orient="horz" pos="3787"/>
        <p:guide orient="horz" pos="167"/>
        <p:guide orient="horz" pos="616"/>
        <p:guide orient="horz" pos="2672"/>
        <p:guide orient="horz" pos="1165"/>
        <p:guide pos="5551"/>
        <p:guide pos="1551"/>
        <p:guide pos="4178"/>
        <p:guide pos="2927"/>
        <p:guide pos="2809"/>
        <p:guide pos="178"/>
        <p:guide pos="4299"/>
        <p:guide pos="1435"/>
      </p:guideLst>
    </p:cSldViewPr>
  </p:slideViewPr>
  <p:outlineViewPr>
    <p:cViewPr>
      <p:scale>
        <a:sx n="33" d="100"/>
        <a:sy n="33" d="100"/>
      </p:scale>
      <p:origin x="0" y="77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-1704" y="-7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18.wmf"/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917" cy="511731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0725" y="0"/>
            <a:ext cx="3076917" cy="511731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1634200F-54F3-456B-879C-F134CFC7AD47}" type="datetimeFigureOut">
              <a:rPr lang="en-US" smtClean="0"/>
              <a:t>8/17/2017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243"/>
            <a:ext cx="3076917" cy="511731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0725" y="9721243"/>
            <a:ext cx="3076917" cy="511731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A572C722-C5AB-4A6F-8A47-996F24FE6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14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91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59" tIns="47380" rIns="94759" bIns="4738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GB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0725" y="0"/>
            <a:ext cx="307691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59" tIns="47380" rIns="94759" bIns="4738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endParaRPr lang="en-GB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59" tIns="47380" rIns="94759" bIns="473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Textmasterformate durch Klicken bearbeiten</a:t>
            </a:r>
          </a:p>
          <a:p>
            <a:pPr lvl="1"/>
            <a:r>
              <a:rPr lang="en-GB" smtClean="0"/>
              <a:t>Zweite Ebene</a:t>
            </a:r>
          </a:p>
          <a:p>
            <a:pPr lvl="2"/>
            <a:r>
              <a:rPr lang="en-GB" smtClean="0"/>
              <a:t>Dritte Ebene</a:t>
            </a:r>
          </a:p>
          <a:p>
            <a:pPr lvl="3"/>
            <a:r>
              <a:rPr lang="en-GB" smtClean="0"/>
              <a:t>Vierte Ebene</a:t>
            </a:r>
          </a:p>
          <a:p>
            <a:pPr lvl="4"/>
            <a:r>
              <a:rPr lang="en-GB" smtClean="0"/>
              <a:t>Fünfte Ebene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243"/>
            <a:ext cx="307691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59" tIns="47380" rIns="94759" bIns="4738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GB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0725" y="9721243"/>
            <a:ext cx="307691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59" tIns="47380" rIns="94759" bIns="4738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F78CA52-E024-45A9-A6DA-6EE92DD2B0F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917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ChangeArrowheads="1"/>
          </p:cNvSpPr>
          <p:nvPr/>
        </p:nvSpPr>
        <p:spPr bwMode="auto">
          <a:xfrm>
            <a:off x="0" y="0"/>
            <a:ext cx="9144000" cy="1888621"/>
          </a:xfrm>
          <a:prstGeom prst="rect">
            <a:avLst/>
          </a:prstGeom>
          <a:solidFill>
            <a:srgbClr val="00A6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2100" y="1363663"/>
            <a:ext cx="8520113" cy="485775"/>
          </a:xfrm>
        </p:spPr>
        <p:txBody>
          <a:bodyPr/>
          <a:lstStyle>
            <a:lvl1pPr marL="0" indent="0">
              <a:buFont typeface="Arial Black" pitchFamily="34" charset="0"/>
              <a:buNone/>
              <a:defRPr b="1">
                <a:solidFill>
                  <a:srgbClr val="F28E00"/>
                </a:solidFill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  <a:endParaRPr lang="en-GB" noProof="0" smtClean="0"/>
          </a:p>
        </p:txBody>
      </p:sp>
      <p:sp>
        <p:nvSpPr>
          <p:cNvPr id="40243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282575" y="0"/>
            <a:ext cx="8520113" cy="1266825"/>
          </a:xfrm>
        </p:spPr>
        <p:txBody>
          <a:bodyPr anchor="b"/>
          <a:lstStyle>
            <a:lvl1pPr>
              <a:lnSpc>
                <a:spcPct val="80000"/>
              </a:lnSpc>
              <a:defRPr sz="4000"/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GB" noProof="0" smtClean="0"/>
          </a:p>
        </p:txBody>
      </p:sp>
      <p:pic>
        <p:nvPicPr>
          <p:cNvPr id="402441" name="Picture 9" descr="DESY-Logo-cyan-RGB_ger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54" t="-4523" r="-13409"/>
          <a:stretch>
            <a:fillRect/>
          </a:stretch>
        </p:blipFill>
        <p:spPr bwMode="auto">
          <a:xfrm>
            <a:off x="7794625" y="5684838"/>
            <a:ext cx="1149350" cy="1027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2442" name="Picture 10" descr="Helmholtz-Logo_schwarz_70_t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5959475"/>
            <a:ext cx="1647825" cy="58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2448" name="Text Box 16"/>
          <p:cNvSpPr txBox="1">
            <a:spLocks noChangeArrowheads="1"/>
          </p:cNvSpPr>
          <p:nvPr userDrawn="1"/>
        </p:nvSpPr>
        <p:spPr bwMode="auto">
          <a:xfrm>
            <a:off x="2003425" y="2481263"/>
            <a:ext cx="2855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96050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6575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82575" y="977900"/>
            <a:ext cx="4183063" cy="4792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18038" y="977900"/>
            <a:ext cx="4184650" cy="4792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212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4820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866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04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0638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78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5498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80200" y="103188"/>
            <a:ext cx="2132013" cy="56673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82575" y="103188"/>
            <a:ext cx="6245225" cy="56673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1308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7D9135D-8DDD-4401-ACE6-E028F3AE8A7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657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ChangeArrowheads="1"/>
          </p:cNvSpPr>
          <p:nvPr/>
        </p:nvSpPr>
        <p:spPr bwMode="auto">
          <a:xfrm>
            <a:off x="0" y="-2"/>
            <a:ext cx="9144000" cy="541608"/>
          </a:xfrm>
          <a:prstGeom prst="rect">
            <a:avLst/>
          </a:prstGeom>
          <a:solidFill>
            <a:srgbClr val="00A6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2575" y="977900"/>
            <a:ext cx="8520113" cy="4792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Textmasterformate durch Klicken bearbeiten</a:t>
            </a:r>
          </a:p>
          <a:p>
            <a:pPr lvl="1"/>
            <a:r>
              <a:rPr lang="en-GB" smtClean="0"/>
              <a:t>Zweite Ebene</a:t>
            </a:r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23163"/>
            <a:ext cx="8520113" cy="54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Titelmasterformat durch Klicken bearbeiten</a:t>
            </a:r>
          </a:p>
        </p:txBody>
      </p:sp>
      <p:sp>
        <p:nvSpPr>
          <p:cNvPr id="401413" name="Rectangle 5"/>
          <p:cNvSpPr>
            <a:spLocks noChangeArrowheads="1"/>
          </p:cNvSpPr>
          <p:nvPr/>
        </p:nvSpPr>
        <p:spPr bwMode="auto">
          <a:xfrm>
            <a:off x="282575" y="6280150"/>
            <a:ext cx="75930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 anchor="ctr"/>
          <a:lstStyle/>
          <a:p>
            <a:pPr algn="r" eaLnBrk="1" hangingPunct="1"/>
            <a:r>
              <a:rPr lang="en-US" sz="900" b="1" noProof="0" dirty="0" smtClean="0">
                <a:solidFill>
                  <a:schemeClr val="bg2"/>
                </a:solidFill>
              </a:rPr>
              <a:t>Igor Zagorodnov</a:t>
            </a:r>
            <a:r>
              <a:rPr lang="en-US" sz="900" noProof="0" dirty="0" smtClean="0">
                <a:solidFill>
                  <a:schemeClr val="bg2"/>
                </a:solidFill>
              </a:rPr>
              <a:t>| SLAC |  March</a:t>
            </a:r>
            <a:r>
              <a:rPr lang="en-US" sz="900" baseline="0" noProof="0" dirty="0" smtClean="0">
                <a:solidFill>
                  <a:schemeClr val="bg2"/>
                </a:solidFill>
              </a:rPr>
              <a:t> 2017</a:t>
            </a:r>
            <a:r>
              <a:rPr lang="en-US" sz="900" noProof="0" dirty="0" smtClean="0">
                <a:solidFill>
                  <a:schemeClr val="bg2"/>
                </a:solidFill>
              </a:rPr>
              <a:t>  |  </a:t>
            </a:r>
            <a:r>
              <a:rPr lang="en-US" sz="900" b="1" noProof="0" dirty="0" err="1" smtClean="0">
                <a:solidFill>
                  <a:schemeClr val="bg2"/>
                </a:solidFill>
              </a:rPr>
              <a:t>Seite</a:t>
            </a:r>
            <a:r>
              <a:rPr lang="en-US" sz="900" b="1" noProof="0" dirty="0" smtClean="0">
                <a:solidFill>
                  <a:schemeClr val="bg2"/>
                </a:solidFill>
              </a:rPr>
              <a:t> </a:t>
            </a:r>
            <a:fld id="{9CF3698C-BB6B-42E9-B529-3BCF46D40F1F}" type="slidenum">
              <a:rPr lang="en-US" sz="900" b="1" noProof="0" smtClean="0">
                <a:solidFill>
                  <a:schemeClr val="bg2"/>
                </a:solidFill>
              </a:rPr>
              <a:pPr algn="r" eaLnBrk="1" hangingPunct="1"/>
              <a:t>‹#›</a:t>
            </a:fld>
            <a:endParaRPr lang="en-US" sz="900" b="1" noProof="0" dirty="0">
              <a:solidFill>
                <a:schemeClr val="bg2"/>
              </a:solidFill>
            </a:endParaRPr>
          </a:p>
        </p:txBody>
      </p:sp>
      <p:pic>
        <p:nvPicPr>
          <p:cNvPr id="401418" name="Picture 10" descr="DESY-Logo-cyan-RGB_ger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424" t="-7854" r="-18587" b="-12566"/>
          <a:stretch>
            <a:fillRect/>
          </a:stretch>
        </p:blipFill>
        <p:spPr bwMode="auto">
          <a:xfrm>
            <a:off x="8035925" y="6099175"/>
            <a:ext cx="776288" cy="73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9pPr>
    </p:titleStyle>
    <p:bodyStyle>
      <a:lvl1pPr marL="265113" indent="-265113" algn="l" rtl="0" eaLnBrk="1" fontAlgn="base" hangingPunct="1">
        <a:spcBef>
          <a:spcPct val="0"/>
        </a:spcBef>
        <a:spcAft>
          <a:spcPct val="50000"/>
        </a:spcAft>
        <a:buClr>
          <a:srgbClr val="F28E00"/>
        </a:buClr>
        <a:buFont typeface="Arial Black" pitchFamily="34" charset="0"/>
        <a:buChar char="&gt;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184150" algn="l" rtl="0" eaLnBrk="1" fontAlgn="base" hangingPunct="1">
        <a:spcBef>
          <a:spcPct val="0"/>
        </a:spcBef>
        <a:spcAft>
          <a:spcPct val="50000"/>
        </a:spcAft>
        <a:buClr>
          <a:schemeClr val="bg2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2pPr>
      <a:lvl3pPr marL="1236663" indent="-228600" algn="l" rtl="0" eaLnBrk="1" fontAlgn="base" hangingPunct="1">
        <a:spcBef>
          <a:spcPct val="0"/>
        </a:spcBef>
        <a:spcAft>
          <a:spcPct val="0"/>
        </a:spcAft>
        <a:buClr>
          <a:srgbClr val="FF9900"/>
        </a:buClr>
        <a:buFont typeface="Arial Black" pitchFamily="34" charset="0"/>
        <a:defRPr sz="1200">
          <a:solidFill>
            <a:schemeClr val="tx1"/>
          </a:solidFill>
          <a:latin typeface="+mn-lt"/>
        </a:defRPr>
      </a:lvl3pPr>
      <a:lvl4pPr marL="1644650" indent="-228600" algn="l" rtl="0" eaLnBrk="1" fontAlgn="base" hangingPunct="1">
        <a:spcBef>
          <a:spcPct val="0"/>
        </a:spcBef>
        <a:spcAft>
          <a:spcPct val="0"/>
        </a:spcAft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6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74" name="Rectangle 30"/>
          <p:cNvSpPr>
            <a:spLocks noGrp="1" noChangeArrowheads="1"/>
          </p:cNvSpPr>
          <p:nvPr>
            <p:ph type="subTitle" idx="1"/>
          </p:nvPr>
        </p:nvSpPr>
        <p:spPr>
          <a:xfrm>
            <a:off x="549828" y="1974317"/>
            <a:ext cx="7214461" cy="952025"/>
          </a:xfrm>
          <a:noFill/>
        </p:spPr>
        <p:txBody>
          <a:bodyPr/>
          <a:lstStyle/>
          <a:p>
            <a:pPr algn="ctr"/>
            <a:r>
              <a:rPr lang="en-US" sz="3000" dirty="0" smtClean="0"/>
              <a:t>Simulations. ECHO vs ASTRA</a:t>
            </a:r>
            <a:endParaRPr lang="en-US" sz="3000" dirty="0"/>
          </a:p>
        </p:txBody>
      </p:sp>
      <p:sp>
        <p:nvSpPr>
          <p:cNvPr id="185373" name="Rectangle 29"/>
          <p:cNvSpPr>
            <a:spLocks noGrp="1" noChangeArrowheads="1"/>
          </p:cNvSpPr>
          <p:nvPr>
            <p:ph type="ctrTitle" sz="quarter"/>
          </p:nvPr>
        </p:nvSpPr>
        <p:spPr>
          <a:xfrm>
            <a:off x="83127" y="0"/>
            <a:ext cx="8996218" cy="1355075"/>
          </a:xfrm>
        </p:spPr>
        <p:txBody>
          <a:bodyPr/>
          <a:lstStyle/>
          <a:p>
            <a:pPr algn="ctr"/>
            <a:r>
              <a:rPr lang="en-US" sz="4400" dirty="0" smtClean="0"/>
              <a:t>Dielectric pipes</a:t>
            </a:r>
            <a:endParaRPr lang="en-US" sz="4400" dirty="0"/>
          </a:p>
        </p:txBody>
      </p:sp>
      <p:sp>
        <p:nvSpPr>
          <p:cNvPr id="185379" name="Text Box 35"/>
          <p:cNvSpPr txBox="1">
            <a:spLocks noChangeArrowheads="1"/>
          </p:cNvSpPr>
          <p:nvPr/>
        </p:nvSpPr>
        <p:spPr bwMode="auto">
          <a:xfrm>
            <a:off x="3847762" y="2805256"/>
            <a:ext cx="506577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Igor Zagorodnov</a:t>
            </a:r>
          </a:p>
          <a:p>
            <a:pPr algn="ctr"/>
            <a:endParaRPr lang="en-US" sz="2400" dirty="0" smtClean="0">
              <a:solidFill>
                <a:srgbClr val="00A5EB"/>
              </a:solidFill>
            </a:endParaRPr>
          </a:p>
          <a:p>
            <a:pPr algn="ctr"/>
            <a:r>
              <a:rPr lang="en-US" sz="2400" dirty="0" smtClean="0">
                <a:solidFill>
                  <a:schemeClr val="accent1"/>
                </a:solidFill>
              </a:rPr>
              <a:t>DESY</a:t>
            </a:r>
          </a:p>
          <a:p>
            <a:pPr algn="ctr"/>
            <a:endParaRPr lang="en-US" sz="2400" dirty="0" smtClean="0"/>
          </a:p>
          <a:p>
            <a:pPr algn="ctr"/>
            <a:r>
              <a:rPr lang="en-US" sz="2400" dirty="0" smtClean="0"/>
              <a:t>Hamburg</a:t>
            </a:r>
          </a:p>
          <a:p>
            <a:pPr algn="ctr"/>
            <a:r>
              <a:rPr lang="en-US" sz="2400" dirty="0" smtClean="0"/>
              <a:t>April 2017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Geometry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71488" y="571500"/>
            <a:ext cx="9278772" cy="5479108"/>
            <a:chOff x="-71488" y="571500"/>
            <a:chExt cx="9278772" cy="5479108"/>
          </a:xfrm>
        </p:grpSpPr>
        <p:sp>
          <p:nvSpPr>
            <p:cNvPr id="7" name="Freeform 6"/>
            <p:cNvSpPr/>
            <p:nvPr/>
          </p:nvSpPr>
          <p:spPr bwMode="auto">
            <a:xfrm>
              <a:off x="982980" y="1257300"/>
              <a:ext cx="7166610" cy="2891790"/>
            </a:xfrm>
            <a:custGeom>
              <a:avLst/>
              <a:gdLst>
                <a:gd name="connsiteX0" fmla="*/ 0 w 7166610"/>
                <a:gd name="connsiteY0" fmla="*/ 0 h 2891790"/>
                <a:gd name="connsiteX1" fmla="*/ 1440180 w 7166610"/>
                <a:gd name="connsiteY1" fmla="*/ 0 h 2891790"/>
                <a:gd name="connsiteX2" fmla="*/ 1428750 w 7166610"/>
                <a:gd name="connsiteY2" fmla="*/ 2891790 h 2891790"/>
                <a:gd name="connsiteX3" fmla="*/ 3611880 w 7166610"/>
                <a:gd name="connsiteY3" fmla="*/ 2891790 h 2891790"/>
                <a:gd name="connsiteX4" fmla="*/ 3577590 w 7166610"/>
                <a:gd name="connsiteY4" fmla="*/ 0 h 2891790"/>
                <a:gd name="connsiteX5" fmla="*/ 7166610 w 7166610"/>
                <a:gd name="connsiteY5" fmla="*/ 0 h 2891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66610" h="2891790">
                  <a:moveTo>
                    <a:pt x="0" y="0"/>
                  </a:moveTo>
                  <a:lnTo>
                    <a:pt x="1440180" y="0"/>
                  </a:lnTo>
                  <a:lnTo>
                    <a:pt x="1428750" y="2891790"/>
                  </a:lnTo>
                  <a:lnTo>
                    <a:pt x="3611880" y="2891790"/>
                  </a:lnTo>
                  <a:lnTo>
                    <a:pt x="3577590" y="0"/>
                  </a:lnTo>
                  <a:lnTo>
                    <a:pt x="7166610" y="0"/>
                  </a:lnTo>
                </a:path>
              </a:pathLst>
            </a:custGeom>
            <a:noFill/>
            <a:ln w="5080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2400300" y="4286250"/>
              <a:ext cx="2194560" cy="240030"/>
            </a:xfrm>
            <a:custGeom>
              <a:avLst/>
              <a:gdLst>
                <a:gd name="connsiteX0" fmla="*/ 0 w 2194560"/>
                <a:gd name="connsiteY0" fmla="*/ 0 h 240030"/>
                <a:gd name="connsiteX1" fmla="*/ 2183130 w 2194560"/>
                <a:gd name="connsiteY1" fmla="*/ 0 h 240030"/>
                <a:gd name="connsiteX2" fmla="*/ 2194560 w 2194560"/>
                <a:gd name="connsiteY2" fmla="*/ 228600 h 240030"/>
                <a:gd name="connsiteX3" fmla="*/ 0 w 2194560"/>
                <a:gd name="connsiteY3" fmla="*/ 240030 h 240030"/>
                <a:gd name="connsiteX4" fmla="*/ 0 w 2194560"/>
                <a:gd name="connsiteY4" fmla="*/ 0 h 240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4560" h="240030">
                  <a:moveTo>
                    <a:pt x="0" y="0"/>
                  </a:moveTo>
                  <a:lnTo>
                    <a:pt x="2183130" y="0"/>
                  </a:lnTo>
                  <a:lnTo>
                    <a:pt x="2194560" y="228600"/>
                  </a:lnTo>
                  <a:lnTo>
                    <a:pt x="0" y="2400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3" name="Straight Connector 2"/>
            <p:cNvCxnSpPr/>
            <p:nvPr/>
          </p:nvCxnSpPr>
          <p:spPr bwMode="auto">
            <a:xfrm>
              <a:off x="217170" y="5587365"/>
              <a:ext cx="869823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Straight Connector 7"/>
            <p:cNvCxnSpPr/>
            <p:nvPr/>
          </p:nvCxnSpPr>
          <p:spPr bwMode="auto">
            <a:xfrm flipV="1">
              <a:off x="754380" y="571500"/>
              <a:ext cx="0" cy="496062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Straight Connector 10"/>
            <p:cNvCxnSpPr>
              <a:stCxn id="9" idx="3"/>
            </p:cNvCxnSpPr>
            <p:nvPr/>
          </p:nvCxnSpPr>
          <p:spPr bwMode="auto">
            <a:xfrm>
              <a:off x="2400300" y="4526280"/>
              <a:ext cx="0" cy="1062990"/>
            </a:xfrm>
            <a:prstGeom prst="line">
              <a:avLst/>
            </a:prstGeom>
            <a:ln w="25400">
              <a:prstDash val="dash"/>
              <a:headEnd type="none" w="med" len="med"/>
              <a:tailEnd type="none" w="med" len="med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auto">
            <a:xfrm>
              <a:off x="4566285" y="4570095"/>
              <a:ext cx="0" cy="1062990"/>
            </a:xfrm>
            <a:prstGeom prst="line">
              <a:avLst/>
            </a:prstGeom>
            <a:ln w="25400">
              <a:prstDash val="dash"/>
              <a:headEnd type="none" w="med" len="med"/>
              <a:tailEnd type="none" w="med" len="med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auto">
            <a:xfrm flipH="1">
              <a:off x="982980" y="1257300"/>
              <a:ext cx="3810" cy="4331970"/>
            </a:xfrm>
            <a:prstGeom prst="line">
              <a:avLst/>
            </a:prstGeom>
            <a:ln w="25400">
              <a:prstDash val="dash"/>
              <a:headEnd type="none" w="med" len="med"/>
              <a:tailEnd type="none" w="med" len="med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auto">
            <a:xfrm flipH="1">
              <a:off x="8130540" y="1301115"/>
              <a:ext cx="3810" cy="4331970"/>
            </a:xfrm>
            <a:prstGeom prst="line">
              <a:avLst/>
            </a:prstGeom>
            <a:ln w="25400">
              <a:prstDash val="dash"/>
              <a:headEnd type="none" w="med" len="med"/>
              <a:tailEnd type="none" w="med" len="med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endCxn id="9" idx="3"/>
            </p:cNvCxnSpPr>
            <p:nvPr/>
          </p:nvCxnSpPr>
          <p:spPr bwMode="auto">
            <a:xfrm>
              <a:off x="754380" y="4526280"/>
              <a:ext cx="1645920" cy="0"/>
            </a:xfrm>
            <a:prstGeom prst="line">
              <a:avLst/>
            </a:prstGeom>
            <a:ln w="25400">
              <a:prstDash val="dash"/>
              <a:headEnd type="none" w="med" len="med"/>
              <a:tailEnd type="none" w="med" len="med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auto">
            <a:xfrm>
              <a:off x="754380" y="4324350"/>
              <a:ext cx="1645920" cy="0"/>
            </a:xfrm>
            <a:prstGeom prst="line">
              <a:avLst/>
            </a:prstGeom>
            <a:ln w="25400">
              <a:prstDash val="dash"/>
              <a:headEnd type="none" w="med" len="med"/>
              <a:tailEnd type="none" w="med" len="med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auto">
            <a:xfrm>
              <a:off x="754380" y="4149090"/>
              <a:ext cx="1645920" cy="0"/>
            </a:xfrm>
            <a:prstGeom prst="line">
              <a:avLst/>
            </a:prstGeom>
            <a:ln w="25400">
              <a:prstDash val="dash"/>
              <a:headEnd type="none" w="med" len="med"/>
              <a:tailEnd type="none" w="med" len="med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auto">
            <a:xfrm>
              <a:off x="754380" y="1257300"/>
              <a:ext cx="1645920" cy="0"/>
            </a:xfrm>
            <a:prstGeom prst="line">
              <a:avLst/>
            </a:prstGeom>
            <a:ln w="25400">
              <a:prstDash val="dash"/>
              <a:headEnd type="none" w="med" len="med"/>
              <a:tailEnd type="none" w="med" len="med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2251060" y="5650498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0</a:t>
              </a:r>
              <a:endParaRPr lang="en-US" sz="20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325674" y="5650498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8</a:t>
              </a:r>
              <a:r>
                <a:rPr lang="en-US" sz="2000" dirty="0" smtClean="0"/>
                <a:t>0</a:t>
              </a:r>
              <a:endParaRPr lang="en-US" sz="20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886537" y="5603974"/>
              <a:ext cx="6126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200</a:t>
              </a:r>
              <a:endParaRPr lang="en-US" sz="2000" dirty="0"/>
            </a:p>
          </p:txBody>
        </p:sp>
        <p:graphicFrame>
          <p:nvGraphicFramePr>
            <p:cNvPr id="24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8067934"/>
                </p:ext>
              </p:extLst>
            </p:nvPr>
          </p:nvGraphicFramePr>
          <p:xfrm>
            <a:off x="8391832" y="5648087"/>
            <a:ext cx="815452" cy="3968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89" name="Equation" r:id="rId4" imgW="469800" imgH="228600" progId="Equation.DSMT4">
                    <p:embed/>
                  </p:oleObj>
                </mc:Choice>
                <mc:Fallback>
                  <p:oleObj name="Equation" r:id="rId4" imgW="469800" imgH="2286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1832" y="5648087"/>
                          <a:ext cx="815452" cy="3968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9936396"/>
                </p:ext>
              </p:extLst>
            </p:nvPr>
          </p:nvGraphicFramePr>
          <p:xfrm>
            <a:off x="-61881" y="571500"/>
            <a:ext cx="780301" cy="3797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90" name="Equation" r:id="rId6" imgW="469800" imgH="228600" progId="Equation.DSMT4">
                    <p:embed/>
                  </p:oleObj>
                </mc:Choice>
                <mc:Fallback>
                  <p:oleObj name="Equation" r:id="rId6" imgW="469800" imgH="2286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61881" y="571500"/>
                          <a:ext cx="780301" cy="3797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TextBox 29"/>
            <p:cNvSpPr txBox="1"/>
            <p:nvPr/>
          </p:nvSpPr>
          <p:spPr>
            <a:xfrm>
              <a:off x="754380" y="5648087"/>
              <a:ext cx="4122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-</a:t>
              </a:r>
              <a:r>
                <a:rPr lang="en-US" sz="2000" dirty="0"/>
                <a:t>3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-71487" y="4406265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0.725</a:t>
              </a:r>
              <a:endParaRPr lang="en-US" sz="2000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-71487" y="4126170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0.900</a:t>
              </a:r>
              <a:endParaRPr lang="en-US" sz="2000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-71488" y="3866670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1.000</a:t>
              </a:r>
              <a:endParaRPr lang="en-US" sz="2000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-155" y="1057245"/>
              <a:ext cx="6832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17.5</a:t>
              </a:r>
              <a:endParaRPr lang="en-US" sz="2000" dirty="0"/>
            </a:p>
          </p:txBody>
        </p:sp>
        <p:graphicFrame>
          <p:nvGraphicFramePr>
            <p:cNvPr id="29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4936005"/>
                </p:ext>
              </p:extLst>
            </p:nvPr>
          </p:nvGraphicFramePr>
          <p:xfrm>
            <a:off x="4795674" y="4185920"/>
            <a:ext cx="1150937" cy="384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91" name="Equation" r:id="rId8" imgW="533160" imgH="177480" progId="Equation.DSMT4">
                    <p:embed/>
                  </p:oleObj>
                </mc:Choice>
                <mc:Fallback>
                  <p:oleObj name="Equation" r:id="rId8" imgW="533160" imgH="17748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5674" y="4185920"/>
                          <a:ext cx="1150937" cy="384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6526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Tests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91540" y="1657350"/>
            <a:ext cx="737317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Test 1. Only drift in free space without any fields.</a:t>
            </a:r>
          </a:p>
          <a:p>
            <a:endParaRPr lang="en-US" sz="2000" dirty="0" smtClean="0"/>
          </a:p>
          <a:p>
            <a:r>
              <a:rPr lang="en-US" sz="2000" dirty="0"/>
              <a:t>Test </a:t>
            </a:r>
            <a:r>
              <a:rPr lang="en-US" sz="2000" dirty="0" smtClean="0"/>
              <a:t>2. Drift </a:t>
            </a:r>
            <a:r>
              <a:rPr lang="en-US" sz="2000" dirty="0"/>
              <a:t>in </a:t>
            </a:r>
            <a:r>
              <a:rPr lang="en-US" sz="2000" dirty="0" smtClean="0"/>
              <a:t>pipe with self-field.</a:t>
            </a:r>
          </a:p>
          <a:p>
            <a:endParaRPr lang="en-US" sz="2000" dirty="0" smtClean="0"/>
          </a:p>
          <a:p>
            <a:r>
              <a:rPr lang="en-US" sz="2000" dirty="0" smtClean="0"/>
              <a:t>Test 3. Through metallic scraper with self-field and particle loss.</a:t>
            </a:r>
          </a:p>
          <a:p>
            <a:endParaRPr lang="en-US" sz="2000" dirty="0"/>
          </a:p>
          <a:p>
            <a:r>
              <a:rPr lang="en-US" sz="2000" dirty="0" smtClean="0"/>
              <a:t>Test 4. Full simulation of dielectric insert.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18432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1. </a:t>
            </a:r>
            <a:r>
              <a:rPr lang="en-US" dirty="0" smtClean="0"/>
              <a:t>Drift </a:t>
            </a:r>
            <a:r>
              <a:rPr lang="en-US" dirty="0"/>
              <a:t>in free space without </a:t>
            </a:r>
            <a:r>
              <a:rPr lang="en-US" dirty="0" smtClean="0"/>
              <a:t>fields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3603"/>
            <a:ext cx="7837312" cy="588605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63090" y="1714500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02874" y="2200543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95950" y="1528346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35734" y="2014389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80371" y="4724400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20155" y="5210443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87389" y="5381357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99597" y="4084320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76754" y="657929"/>
            <a:ext cx="24228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Transverse phase space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818637" y="981579"/>
            <a:ext cx="1460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Mean position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263165" y="964702"/>
            <a:ext cx="1061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RMS size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415565" y="3742728"/>
            <a:ext cx="1197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RMS angle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344544" y="3762314"/>
            <a:ext cx="23166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Phase space emittance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72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1. Drift in free space without fields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1538"/>
            <a:ext cx="9144000" cy="565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63090" y="1714500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02874" y="2200543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90260" y="1522363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30044" y="2008406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78182" y="4589442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96053" y="4105007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60795" y="4250888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00579" y="4736931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76754" y="657929"/>
            <a:ext cx="25074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Longitudinal phase space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863090" y="860095"/>
            <a:ext cx="1382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Mean energy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167680" y="866078"/>
            <a:ext cx="1061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RMS size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031425" y="3567139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Energy spread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732631" y="3573451"/>
            <a:ext cx="23166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Phase space emittance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2 . Drift </a:t>
            </a:r>
            <a:r>
              <a:rPr lang="en-US" dirty="0"/>
              <a:t>in pipe with self-field.</a:t>
            </a:r>
          </a:p>
        </p:txBody>
      </p:sp>
      <p:sp>
        <p:nvSpPr>
          <p:cNvPr id="7" name="Freeform 6"/>
          <p:cNvSpPr/>
          <p:nvPr/>
        </p:nvSpPr>
        <p:spPr bwMode="auto">
          <a:xfrm>
            <a:off x="982980" y="1257300"/>
            <a:ext cx="7166610" cy="0"/>
          </a:xfrm>
          <a:custGeom>
            <a:avLst/>
            <a:gdLst>
              <a:gd name="connsiteX0" fmla="*/ 0 w 7166610"/>
              <a:gd name="connsiteY0" fmla="*/ 0 h 2891790"/>
              <a:gd name="connsiteX1" fmla="*/ 1440180 w 7166610"/>
              <a:gd name="connsiteY1" fmla="*/ 0 h 2891790"/>
              <a:gd name="connsiteX2" fmla="*/ 1428750 w 7166610"/>
              <a:gd name="connsiteY2" fmla="*/ 2891790 h 2891790"/>
              <a:gd name="connsiteX3" fmla="*/ 3611880 w 7166610"/>
              <a:gd name="connsiteY3" fmla="*/ 2891790 h 2891790"/>
              <a:gd name="connsiteX4" fmla="*/ 3577590 w 7166610"/>
              <a:gd name="connsiteY4" fmla="*/ 0 h 2891790"/>
              <a:gd name="connsiteX5" fmla="*/ 7166610 w 7166610"/>
              <a:gd name="connsiteY5" fmla="*/ 0 h 2891790"/>
              <a:gd name="connsiteX0" fmla="*/ 0 w 7166610"/>
              <a:gd name="connsiteY0" fmla="*/ 11430 h 2903220"/>
              <a:gd name="connsiteX1" fmla="*/ 1440180 w 7166610"/>
              <a:gd name="connsiteY1" fmla="*/ 11430 h 2903220"/>
              <a:gd name="connsiteX2" fmla="*/ 1451610 w 7166610"/>
              <a:gd name="connsiteY2" fmla="*/ 0 h 2903220"/>
              <a:gd name="connsiteX3" fmla="*/ 3611880 w 7166610"/>
              <a:gd name="connsiteY3" fmla="*/ 2903220 h 2903220"/>
              <a:gd name="connsiteX4" fmla="*/ 3577590 w 7166610"/>
              <a:gd name="connsiteY4" fmla="*/ 11430 h 2903220"/>
              <a:gd name="connsiteX5" fmla="*/ 7166610 w 7166610"/>
              <a:gd name="connsiteY5" fmla="*/ 11430 h 2903220"/>
              <a:gd name="connsiteX0" fmla="*/ 0 w 7166610"/>
              <a:gd name="connsiteY0" fmla="*/ 11430 h 11430"/>
              <a:gd name="connsiteX1" fmla="*/ 1440180 w 7166610"/>
              <a:gd name="connsiteY1" fmla="*/ 11430 h 11430"/>
              <a:gd name="connsiteX2" fmla="*/ 1451610 w 7166610"/>
              <a:gd name="connsiteY2" fmla="*/ 0 h 11430"/>
              <a:gd name="connsiteX3" fmla="*/ 3589020 w 7166610"/>
              <a:gd name="connsiteY3" fmla="*/ 11430 h 11430"/>
              <a:gd name="connsiteX4" fmla="*/ 3577590 w 7166610"/>
              <a:gd name="connsiteY4" fmla="*/ 11430 h 11430"/>
              <a:gd name="connsiteX5" fmla="*/ 7166610 w 7166610"/>
              <a:gd name="connsiteY5" fmla="*/ 11430 h 11430"/>
              <a:gd name="connsiteX0" fmla="*/ 0 w 7166610"/>
              <a:gd name="connsiteY0" fmla="*/ 0 h 0"/>
              <a:gd name="connsiteX1" fmla="*/ 1440180 w 7166610"/>
              <a:gd name="connsiteY1" fmla="*/ 0 h 0"/>
              <a:gd name="connsiteX2" fmla="*/ 1394460 w 7166610"/>
              <a:gd name="connsiteY2" fmla="*/ 0 h 0"/>
              <a:gd name="connsiteX3" fmla="*/ 3589020 w 7166610"/>
              <a:gd name="connsiteY3" fmla="*/ 0 h 0"/>
              <a:gd name="connsiteX4" fmla="*/ 3577590 w 7166610"/>
              <a:gd name="connsiteY4" fmla="*/ 0 h 0"/>
              <a:gd name="connsiteX5" fmla="*/ 7166610 w 7166610"/>
              <a:gd name="connsiteY5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66610">
                <a:moveTo>
                  <a:pt x="0" y="0"/>
                </a:moveTo>
                <a:lnTo>
                  <a:pt x="1440180" y="0"/>
                </a:lnTo>
                <a:lnTo>
                  <a:pt x="1394460" y="0"/>
                </a:lnTo>
                <a:lnTo>
                  <a:pt x="3589020" y="0"/>
                </a:lnTo>
                <a:lnTo>
                  <a:pt x="3577590" y="0"/>
                </a:lnTo>
                <a:lnTo>
                  <a:pt x="7166610" y="0"/>
                </a:lnTo>
              </a:path>
            </a:pathLst>
          </a:custGeom>
          <a:noFill/>
          <a:ln w="508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217170" y="5587365"/>
            <a:ext cx="869823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Straight Connector 7"/>
          <p:cNvCxnSpPr/>
          <p:nvPr/>
        </p:nvCxnSpPr>
        <p:spPr bwMode="auto">
          <a:xfrm flipV="1">
            <a:off x="754380" y="571500"/>
            <a:ext cx="0" cy="496062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Connector 14"/>
          <p:cNvCxnSpPr/>
          <p:nvPr/>
        </p:nvCxnSpPr>
        <p:spPr bwMode="auto">
          <a:xfrm flipH="1">
            <a:off x="982980" y="1257300"/>
            <a:ext cx="3810" cy="4331970"/>
          </a:xfrm>
          <a:prstGeom prst="line">
            <a:avLst/>
          </a:prstGeom>
          <a:ln w="25400">
            <a:prstDash val="dash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auto">
          <a:xfrm flipH="1">
            <a:off x="8130540" y="1301115"/>
            <a:ext cx="3810" cy="4331970"/>
          </a:xfrm>
          <a:prstGeom prst="line">
            <a:avLst/>
          </a:prstGeom>
          <a:ln w="25400">
            <a:prstDash val="dash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 bwMode="auto">
          <a:xfrm>
            <a:off x="754380" y="1257300"/>
            <a:ext cx="1645920" cy="0"/>
          </a:xfrm>
          <a:prstGeom prst="line">
            <a:avLst/>
          </a:prstGeom>
          <a:ln w="25400">
            <a:prstDash val="dash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51060" y="565049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4325674" y="5650498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8</a:t>
            </a:r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27" name="TextBox 26"/>
          <p:cNvSpPr txBox="1"/>
          <p:nvPr/>
        </p:nvSpPr>
        <p:spPr>
          <a:xfrm>
            <a:off x="7886537" y="5603974"/>
            <a:ext cx="612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200</a:t>
            </a:r>
            <a:endParaRPr lang="en-US" sz="2000" dirty="0"/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9356190"/>
              </p:ext>
            </p:extLst>
          </p:nvPr>
        </p:nvGraphicFramePr>
        <p:xfrm>
          <a:off x="8149590" y="5038408"/>
          <a:ext cx="10144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2" name="Equation" r:id="rId4" imgW="469800" imgH="228600" progId="Equation.DSMT4">
                  <p:embed/>
                </p:oleObj>
              </mc:Choice>
              <mc:Fallback>
                <p:oleObj name="Equation" r:id="rId4" imgW="46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9590" y="5038408"/>
                        <a:ext cx="1014413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905148"/>
              </p:ext>
            </p:extLst>
          </p:nvPr>
        </p:nvGraphicFramePr>
        <p:xfrm>
          <a:off x="754380" y="571500"/>
          <a:ext cx="101441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3" name="Equation" r:id="rId6" imgW="469800" imgH="228600" progId="Equation.DSMT4">
                  <p:embed/>
                </p:oleObj>
              </mc:Choice>
              <mc:Fallback>
                <p:oleObj name="Equation" r:id="rId6" imgW="46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" y="571500"/>
                        <a:ext cx="1014413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54380" y="5648087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-</a:t>
            </a:r>
            <a:r>
              <a:rPr lang="en-US" sz="2000" dirty="0"/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-155" y="1057245"/>
            <a:ext cx="6832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17.5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52764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2 . Drift in pipe with self-field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61" y="1016559"/>
            <a:ext cx="7311977" cy="54915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43361" y="2061746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03577" y="1704678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15565" y="4242167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65252" y="5061853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41619" y="1557189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07562" y="2381786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03577" y="4072890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76393" y="4914364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76754" y="657929"/>
            <a:ext cx="24228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Transverse phase space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015676" y="1016559"/>
            <a:ext cx="1460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Mean position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41619" y="1028225"/>
            <a:ext cx="1061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RMS size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415565" y="3742728"/>
            <a:ext cx="1197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RMS angle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633334" y="3750884"/>
            <a:ext cx="23166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Phase space emittance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2 . Drift in pipe with self-field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19" y="720090"/>
            <a:ext cx="7727537" cy="57950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95089" y="2366604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22220" y="1375946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34940" y="1545223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74724" y="2031266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64916" y="4336316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30859" y="4964430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22220" y="3857357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5191" y="4964430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76754" y="657929"/>
            <a:ext cx="25074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Longitudinal phase space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863090" y="860095"/>
            <a:ext cx="1382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Mean energy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167680" y="866078"/>
            <a:ext cx="1061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RMS size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031425" y="3567139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Energy spread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732631" y="3573451"/>
            <a:ext cx="23166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Phase space emittance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01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2 . Drift in pipe with self-field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09" y="1085730"/>
            <a:ext cx="7168321" cy="53836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74770" y="2621280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8114" y="2452003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31297" y="5091797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62998" y="5092333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6754" y="657929"/>
            <a:ext cx="25074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Longitudinal phase space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01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3. Through </a:t>
            </a:r>
            <a:r>
              <a:rPr lang="en-US" dirty="0"/>
              <a:t>metallic </a:t>
            </a:r>
            <a:r>
              <a:rPr lang="en-US" dirty="0" smtClean="0"/>
              <a:t>scraper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982980" y="1257300"/>
            <a:ext cx="7166610" cy="3268980"/>
          </a:xfrm>
          <a:custGeom>
            <a:avLst/>
            <a:gdLst>
              <a:gd name="connsiteX0" fmla="*/ 0 w 7166610"/>
              <a:gd name="connsiteY0" fmla="*/ 0 h 2891790"/>
              <a:gd name="connsiteX1" fmla="*/ 1440180 w 7166610"/>
              <a:gd name="connsiteY1" fmla="*/ 0 h 2891790"/>
              <a:gd name="connsiteX2" fmla="*/ 1428750 w 7166610"/>
              <a:gd name="connsiteY2" fmla="*/ 2891790 h 2891790"/>
              <a:gd name="connsiteX3" fmla="*/ 3611880 w 7166610"/>
              <a:gd name="connsiteY3" fmla="*/ 2891790 h 2891790"/>
              <a:gd name="connsiteX4" fmla="*/ 3577590 w 7166610"/>
              <a:gd name="connsiteY4" fmla="*/ 0 h 2891790"/>
              <a:gd name="connsiteX5" fmla="*/ 7166610 w 7166610"/>
              <a:gd name="connsiteY5" fmla="*/ 0 h 2891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66610" h="2891790">
                <a:moveTo>
                  <a:pt x="0" y="0"/>
                </a:moveTo>
                <a:lnTo>
                  <a:pt x="1440180" y="0"/>
                </a:lnTo>
                <a:lnTo>
                  <a:pt x="1428750" y="2891790"/>
                </a:lnTo>
                <a:lnTo>
                  <a:pt x="3611880" y="2891790"/>
                </a:lnTo>
                <a:lnTo>
                  <a:pt x="3577590" y="0"/>
                </a:lnTo>
                <a:lnTo>
                  <a:pt x="7166610" y="0"/>
                </a:lnTo>
              </a:path>
            </a:pathLst>
          </a:custGeom>
          <a:noFill/>
          <a:ln w="508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217170" y="5587365"/>
            <a:ext cx="869823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Straight Connector 7"/>
          <p:cNvCxnSpPr/>
          <p:nvPr/>
        </p:nvCxnSpPr>
        <p:spPr bwMode="auto">
          <a:xfrm flipV="1">
            <a:off x="754380" y="571500"/>
            <a:ext cx="0" cy="496062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Connector 10"/>
          <p:cNvCxnSpPr/>
          <p:nvPr/>
        </p:nvCxnSpPr>
        <p:spPr bwMode="auto">
          <a:xfrm>
            <a:off x="2400300" y="4526280"/>
            <a:ext cx="0" cy="1062990"/>
          </a:xfrm>
          <a:prstGeom prst="line">
            <a:avLst/>
          </a:prstGeom>
          <a:ln w="25400">
            <a:prstDash val="dash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auto">
          <a:xfrm>
            <a:off x="4566285" y="4570095"/>
            <a:ext cx="0" cy="1062990"/>
          </a:xfrm>
          <a:prstGeom prst="line">
            <a:avLst/>
          </a:prstGeom>
          <a:ln w="25400">
            <a:prstDash val="dash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auto">
          <a:xfrm flipH="1">
            <a:off x="982980" y="1257300"/>
            <a:ext cx="3810" cy="4331970"/>
          </a:xfrm>
          <a:prstGeom prst="line">
            <a:avLst/>
          </a:prstGeom>
          <a:ln w="25400">
            <a:prstDash val="dash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auto">
          <a:xfrm flipH="1">
            <a:off x="8130540" y="1301115"/>
            <a:ext cx="3810" cy="4331970"/>
          </a:xfrm>
          <a:prstGeom prst="line">
            <a:avLst/>
          </a:prstGeom>
          <a:ln w="25400">
            <a:prstDash val="dash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 bwMode="auto">
          <a:xfrm>
            <a:off x="754380" y="4526280"/>
            <a:ext cx="1645920" cy="0"/>
          </a:xfrm>
          <a:prstGeom prst="line">
            <a:avLst/>
          </a:prstGeom>
          <a:ln w="25400">
            <a:prstDash val="dash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 bwMode="auto">
          <a:xfrm>
            <a:off x="754380" y="1257300"/>
            <a:ext cx="1645920" cy="0"/>
          </a:xfrm>
          <a:prstGeom prst="line">
            <a:avLst/>
          </a:prstGeom>
          <a:ln w="25400">
            <a:prstDash val="dash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51060" y="565049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4325674" y="5650498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8</a:t>
            </a:r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27" name="TextBox 26"/>
          <p:cNvSpPr txBox="1"/>
          <p:nvPr/>
        </p:nvSpPr>
        <p:spPr>
          <a:xfrm>
            <a:off x="7886537" y="5603974"/>
            <a:ext cx="612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200</a:t>
            </a:r>
            <a:endParaRPr lang="en-US" sz="2000" dirty="0"/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942615"/>
              </p:ext>
            </p:extLst>
          </p:nvPr>
        </p:nvGraphicFramePr>
        <p:xfrm>
          <a:off x="8149590" y="5038408"/>
          <a:ext cx="10144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4" name="Equation" r:id="rId4" imgW="469800" imgH="228600" progId="Equation.DSMT4">
                  <p:embed/>
                </p:oleObj>
              </mc:Choice>
              <mc:Fallback>
                <p:oleObj name="Equation" r:id="rId4" imgW="46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9590" y="5038408"/>
                        <a:ext cx="1014413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337408"/>
              </p:ext>
            </p:extLst>
          </p:nvPr>
        </p:nvGraphicFramePr>
        <p:xfrm>
          <a:off x="754380" y="571500"/>
          <a:ext cx="101441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5" name="Equation" r:id="rId6" imgW="469800" imgH="228600" progId="Equation.DSMT4">
                  <p:embed/>
                </p:oleObj>
              </mc:Choice>
              <mc:Fallback>
                <p:oleObj name="Equation" r:id="rId6" imgW="46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" y="571500"/>
                        <a:ext cx="1014413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54380" y="5648087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-</a:t>
            </a:r>
            <a:r>
              <a:rPr lang="en-US" sz="2000" dirty="0"/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71487" y="4406265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0.725</a:t>
            </a:r>
            <a:endParaRPr lang="en-US" sz="2000" dirty="0"/>
          </a:p>
        </p:txBody>
      </p:sp>
      <p:sp>
        <p:nvSpPr>
          <p:cNvPr id="34" name="TextBox 33"/>
          <p:cNvSpPr txBox="1"/>
          <p:nvPr/>
        </p:nvSpPr>
        <p:spPr>
          <a:xfrm>
            <a:off x="-155" y="1057245"/>
            <a:ext cx="6832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17.5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25936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3. Through metallic scraper</a:t>
            </a:r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513"/>
          <a:stretch/>
        </p:blipFill>
        <p:spPr bwMode="auto">
          <a:xfrm>
            <a:off x="166370" y="1748790"/>
            <a:ext cx="8748156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201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3. Through metallic scraper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78" y="920279"/>
            <a:ext cx="7568371" cy="56840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77073" y="2208699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21958" y="1370499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37406" y="4688473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6778" y="4371707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21958" y="5076021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79289" y="4840337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21895" y="1714500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27174" y="1861989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76754" y="657929"/>
            <a:ext cx="24228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Transverse phase space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049389" y="997591"/>
            <a:ext cx="1460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Mean position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263165" y="964702"/>
            <a:ext cx="1061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RMS size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415565" y="3742728"/>
            <a:ext cx="1197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RMS angle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671241" y="3733142"/>
            <a:ext cx="23166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Phase space emittance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3. Through metallic scraper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70" y="788352"/>
            <a:ext cx="7477116" cy="56238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4150" y="1375946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4150" y="2366010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8914" y="3993981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76282" y="4925258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22252" y="2704564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88195" y="2221259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26295" y="4110454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49033" y="5094535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76754" y="657929"/>
            <a:ext cx="25074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Longitudinal phase space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863090" y="860095"/>
            <a:ext cx="1382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Mean energy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167680" y="866078"/>
            <a:ext cx="1061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RMS size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031425" y="3567139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Energy spread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732631" y="3573451"/>
            <a:ext cx="23166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Phase space emittance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3. Through metallic scraper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19" y="699438"/>
            <a:ext cx="7682671" cy="5769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21211" y="1721584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02874" y="2200543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65512" y="4516487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ASTRA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29033" y="4833253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ECHO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6754" y="657929"/>
            <a:ext cx="25074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Longitudinal phase space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765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4. Full simulation of dielectric insert.</a:t>
            </a:r>
          </a:p>
        </p:txBody>
      </p:sp>
      <p:sp>
        <p:nvSpPr>
          <p:cNvPr id="7" name="Freeform 6"/>
          <p:cNvSpPr/>
          <p:nvPr/>
        </p:nvSpPr>
        <p:spPr bwMode="auto">
          <a:xfrm>
            <a:off x="982980" y="1257300"/>
            <a:ext cx="7166610" cy="2891790"/>
          </a:xfrm>
          <a:custGeom>
            <a:avLst/>
            <a:gdLst>
              <a:gd name="connsiteX0" fmla="*/ 0 w 7166610"/>
              <a:gd name="connsiteY0" fmla="*/ 0 h 2891790"/>
              <a:gd name="connsiteX1" fmla="*/ 1440180 w 7166610"/>
              <a:gd name="connsiteY1" fmla="*/ 0 h 2891790"/>
              <a:gd name="connsiteX2" fmla="*/ 1428750 w 7166610"/>
              <a:gd name="connsiteY2" fmla="*/ 2891790 h 2891790"/>
              <a:gd name="connsiteX3" fmla="*/ 3611880 w 7166610"/>
              <a:gd name="connsiteY3" fmla="*/ 2891790 h 2891790"/>
              <a:gd name="connsiteX4" fmla="*/ 3577590 w 7166610"/>
              <a:gd name="connsiteY4" fmla="*/ 0 h 2891790"/>
              <a:gd name="connsiteX5" fmla="*/ 7166610 w 7166610"/>
              <a:gd name="connsiteY5" fmla="*/ 0 h 2891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66610" h="2891790">
                <a:moveTo>
                  <a:pt x="0" y="0"/>
                </a:moveTo>
                <a:lnTo>
                  <a:pt x="1440180" y="0"/>
                </a:lnTo>
                <a:lnTo>
                  <a:pt x="1428750" y="2891790"/>
                </a:lnTo>
                <a:lnTo>
                  <a:pt x="3611880" y="2891790"/>
                </a:lnTo>
                <a:lnTo>
                  <a:pt x="3577590" y="0"/>
                </a:lnTo>
                <a:lnTo>
                  <a:pt x="7166610" y="0"/>
                </a:lnTo>
              </a:path>
            </a:pathLst>
          </a:custGeom>
          <a:noFill/>
          <a:ln w="508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2400300" y="4286250"/>
            <a:ext cx="2194560" cy="240030"/>
          </a:xfrm>
          <a:custGeom>
            <a:avLst/>
            <a:gdLst>
              <a:gd name="connsiteX0" fmla="*/ 0 w 2194560"/>
              <a:gd name="connsiteY0" fmla="*/ 0 h 240030"/>
              <a:gd name="connsiteX1" fmla="*/ 2183130 w 2194560"/>
              <a:gd name="connsiteY1" fmla="*/ 0 h 240030"/>
              <a:gd name="connsiteX2" fmla="*/ 2194560 w 2194560"/>
              <a:gd name="connsiteY2" fmla="*/ 228600 h 240030"/>
              <a:gd name="connsiteX3" fmla="*/ 0 w 2194560"/>
              <a:gd name="connsiteY3" fmla="*/ 240030 h 240030"/>
              <a:gd name="connsiteX4" fmla="*/ 0 w 2194560"/>
              <a:gd name="connsiteY4" fmla="*/ 0 h 240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4560" h="240030">
                <a:moveTo>
                  <a:pt x="0" y="0"/>
                </a:moveTo>
                <a:lnTo>
                  <a:pt x="2183130" y="0"/>
                </a:lnTo>
                <a:lnTo>
                  <a:pt x="2194560" y="228600"/>
                </a:lnTo>
                <a:lnTo>
                  <a:pt x="0" y="2400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217170" y="5587365"/>
            <a:ext cx="869823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Straight Connector 7"/>
          <p:cNvCxnSpPr/>
          <p:nvPr/>
        </p:nvCxnSpPr>
        <p:spPr bwMode="auto">
          <a:xfrm flipV="1">
            <a:off x="754380" y="571500"/>
            <a:ext cx="0" cy="496062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Connector 10"/>
          <p:cNvCxnSpPr>
            <a:stCxn id="9" idx="3"/>
          </p:cNvCxnSpPr>
          <p:nvPr/>
        </p:nvCxnSpPr>
        <p:spPr bwMode="auto">
          <a:xfrm>
            <a:off x="2400300" y="4526280"/>
            <a:ext cx="0" cy="1062990"/>
          </a:xfrm>
          <a:prstGeom prst="line">
            <a:avLst/>
          </a:prstGeom>
          <a:ln w="25400">
            <a:prstDash val="dash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auto">
          <a:xfrm>
            <a:off x="4566285" y="4570095"/>
            <a:ext cx="0" cy="1062990"/>
          </a:xfrm>
          <a:prstGeom prst="line">
            <a:avLst/>
          </a:prstGeom>
          <a:ln w="25400">
            <a:prstDash val="dash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auto">
          <a:xfrm flipH="1">
            <a:off x="982980" y="1257300"/>
            <a:ext cx="3810" cy="4331970"/>
          </a:xfrm>
          <a:prstGeom prst="line">
            <a:avLst/>
          </a:prstGeom>
          <a:ln w="25400">
            <a:prstDash val="dash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auto">
          <a:xfrm flipH="1">
            <a:off x="8130540" y="1301115"/>
            <a:ext cx="3810" cy="4331970"/>
          </a:xfrm>
          <a:prstGeom prst="line">
            <a:avLst/>
          </a:prstGeom>
          <a:ln w="25400">
            <a:prstDash val="dash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9" idx="3"/>
          </p:cNvCxnSpPr>
          <p:nvPr/>
        </p:nvCxnSpPr>
        <p:spPr bwMode="auto">
          <a:xfrm>
            <a:off x="754380" y="4526280"/>
            <a:ext cx="1645920" cy="0"/>
          </a:xfrm>
          <a:prstGeom prst="line">
            <a:avLst/>
          </a:prstGeom>
          <a:ln w="25400">
            <a:prstDash val="dash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 bwMode="auto">
          <a:xfrm>
            <a:off x="754380" y="4324350"/>
            <a:ext cx="1645920" cy="0"/>
          </a:xfrm>
          <a:prstGeom prst="line">
            <a:avLst/>
          </a:prstGeom>
          <a:ln w="25400">
            <a:prstDash val="dash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 bwMode="auto">
          <a:xfrm>
            <a:off x="754380" y="4149090"/>
            <a:ext cx="1645920" cy="0"/>
          </a:xfrm>
          <a:prstGeom prst="line">
            <a:avLst/>
          </a:prstGeom>
          <a:ln w="25400">
            <a:prstDash val="dash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 bwMode="auto">
          <a:xfrm>
            <a:off x="754380" y="1257300"/>
            <a:ext cx="1645920" cy="0"/>
          </a:xfrm>
          <a:prstGeom prst="line">
            <a:avLst/>
          </a:prstGeom>
          <a:ln w="25400">
            <a:prstDash val="dash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51060" y="565049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4325674" y="5650498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8</a:t>
            </a:r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27" name="TextBox 26"/>
          <p:cNvSpPr txBox="1"/>
          <p:nvPr/>
        </p:nvSpPr>
        <p:spPr>
          <a:xfrm>
            <a:off x="7886537" y="5603974"/>
            <a:ext cx="612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200</a:t>
            </a:r>
            <a:endParaRPr lang="en-US" sz="2000" dirty="0"/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934965"/>
              </p:ext>
            </p:extLst>
          </p:nvPr>
        </p:nvGraphicFramePr>
        <p:xfrm>
          <a:off x="8149590" y="5038408"/>
          <a:ext cx="10144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5" name="Equation" r:id="rId4" imgW="469800" imgH="228600" progId="Equation.DSMT4">
                  <p:embed/>
                </p:oleObj>
              </mc:Choice>
              <mc:Fallback>
                <p:oleObj name="Equation" r:id="rId4" imgW="46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9590" y="5038408"/>
                        <a:ext cx="1014413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443589"/>
              </p:ext>
            </p:extLst>
          </p:nvPr>
        </p:nvGraphicFramePr>
        <p:xfrm>
          <a:off x="754380" y="571500"/>
          <a:ext cx="101441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6" name="Equation" r:id="rId6" imgW="469800" imgH="228600" progId="Equation.DSMT4">
                  <p:embed/>
                </p:oleObj>
              </mc:Choice>
              <mc:Fallback>
                <p:oleObj name="Equation" r:id="rId6" imgW="46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" y="571500"/>
                        <a:ext cx="1014413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54380" y="5648087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-</a:t>
            </a:r>
            <a:r>
              <a:rPr lang="en-US" sz="2000" dirty="0"/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71487" y="4406265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0.725</a:t>
            </a:r>
            <a:endParaRPr 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-71487" y="4126170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0.900</a:t>
            </a:r>
            <a:endParaRPr lang="en-US" sz="2000" dirty="0"/>
          </a:p>
        </p:txBody>
      </p:sp>
      <p:sp>
        <p:nvSpPr>
          <p:cNvPr id="33" name="TextBox 32"/>
          <p:cNvSpPr txBox="1"/>
          <p:nvPr/>
        </p:nvSpPr>
        <p:spPr>
          <a:xfrm>
            <a:off x="-71488" y="3866670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1.000</a:t>
            </a:r>
            <a:endParaRPr lang="en-US" sz="2000" dirty="0"/>
          </a:p>
        </p:txBody>
      </p:sp>
      <p:sp>
        <p:nvSpPr>
          <p:cNvPr id="34" name="TextBox 33"/>
          <p:cNvSpPr txBox="1"/>
          <p:nvPr/>
        </p:nvSpPr>
        <p:spPr>
          <a:xfrm>
            <a:off x="-155" y="1057245"/>
            <a:ext cx="6832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17.5</a:t>
            </a:r>
            <a:endParaRPr lang="en-US" sz="2000" dirty="0"/>
          </a:p>
        </p:txBody>
      </p:sp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743611"/>
              </p:ext>
            </p:extLst>
          </p:nvPr>
        </p:nvGraphicFramePr>
        <p:xfrm>
          <a:off x="4795674" y="4185920"/>
          <a:ext cx="1150937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7" name="Equation" r:id="rId8" imgW="533160" imgH="177480" progId="Equation.DSMT4">
                  <p:embed/>
                </p:oleObj>
              </mc:Choice>
              <mc:Fallback>
                <p:oleObj name="Equation" r:id="rId8" imgW="5331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674" y="4185920"/>
                        <a:ext cx="1150937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536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4. Full simulation of dielectric insert.</a:t>
            </a:r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0" t="10190" r="27020" b="22233"/>
          <a:stretch/>
        </p:blipFill>
        <p:spPr bwMode="auto">
          <a:xfrm>
            <a:off x="434339" y="605790"/>
            <a:ext cx="7679425" cy="545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3914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4. Full simulation of dielectric insert.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37623" y="657929"/>
            <a:ext cx="8017707" cy="5829214"/>
            <a:chOff x="337623" y="657929"/>
            <a:chExt cx="8017707" cy="582921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623" y="996483"/>
              <a:ext cx="8017707" cy="5490660"/>
            </a:xfrm>
            <a:prstGeom prst="rect">
              <a:avLst/>
            </a:prstGeom>
          </p:spPr>
        </p:pic>
        <p:grpSp>
          <p:nvGrpSpPr>
            <p:cNvPr id="2" name="Group 1"/>
            <p:cNvGrpSpPr/>
            <p:nvPr/>
          </p:nvGrpSpPr>
          <p:grpSpPr>
            <a:xfrm>
              <a:off x="1749106" y="657929"/>
              <a:ext cx="5692609" cy="4849810"/>
              <a:chOff x="1749106" y="657929"/>
              <a:chExt cx="5692609" cy="4849810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3131774" y="2025283"/>
                <a:ext cx="8659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rgbClr val="00B050"/>
                    </a:solidFill>
                  </a:rPr>
                  <a:t>ASTRA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3382984" y="1375946"/>
                <a:ext cx="77617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rgbClr val="0070C0"/>
                    </a:solidFill>
                  </a:rPr>
                  <a:t>ECHO</a:t>
                </a:r>
                <a:endParaRPr lang="en-US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5581475" y="1877794"/>
                <a:ext cx="8659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rgbClr val="00B050"/>
                    </a:solidFill>
                  </a:rPr>
                  <a:t>ASTRA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620655" y="2179885"/>
                <a:ext cx="77617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rgbClr val="0070C0"/>
                    </a:solidFill>
                  </a:rPr>
                  <a:t>ECHO</a:t>
                </a:r>
                <a:endParaRPr lang="en-US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6575772" y="4972108"/>
                <a:ext cx="8659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rgbClr val="00B050"/>
                    </a:solidFill>
                  </a:rPr>
                  <a:t>ASTRA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799597" y="4462075"/>
                <a:ext cx="77617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rgbClr val="0070C0"/>
                    </a:solidFill>
                  </a:rPr>
                  <a:t>ECHO</a:t>
                </a:r>
                <a:endParaRPr lang="en-US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144034" y="5169185"/>
                <a:ext cx="8659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rgbClr val="00B050"/>
                    </a:solidFill>
                  </a:rPr>
                  <a:t>ASTRA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2502874" y="4800629"/>
                <a:ext cx="77617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rgbClr val="0070C0"/>
                    </a:solidFill>
                  </a:rPr>
                  <a:t>ECHO</a:t>
                </a:r>
                <a:endParaRPr lang="en-US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376754" y="657929"/>
                <a:ext cx="24228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Transverse phase space</a:t>
                </a:r>
                <a:endParaRPr lang="en-US" dirty="0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926544" y="1037628"/>
                <a:ext cx="14606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Mean position</a:t>
                </a:r>
                <a:endParaRPr lang="en-US" dirty="0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5483692" y="1037628"/>
                <a:ext cx="106150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RMS size</a:t>
                </a:r>
                <a:endParaRPr lang="en-US" dirty="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415565" y="3742728"/>
                <a:ext cx="119776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RMS angle</a:t>
                </a:r>
                <a:endParaRPr lang="en-US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1749106" y="3741813"/>
                <a:ext cx="23166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Phase space emittance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9765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4. Full simulation of dielectric insert.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80060" y="657929"/>
            <a:ext cx="8515350" cy="5902051"/>
            <a:chOff x="480060" y="657929"/>
            <a:chExt cx="8515350" cy="590205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0060" y="728525"/>
              <a:ext cx="8515350" cy="5831455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3205253" y="1655177"/>
              <a:ext cx="8659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ASTRA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963543" y="2504807"/>
              <a:ext cx="7761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70C0"/>
                  </a:solidFill>
                </a:rPr>
                <a:t>ECHO</a:t>
              </a:r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536295" y="4472433"/>
              <a:ext cx="8659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ASTRA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969266" y="5507623"/>
              <a:ext cx="7761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70C0"/>
                  </a:solidFill>
                </a:rPr>
                <a:t>ECHO</a:t>
              </a:r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364776" y="2690425"/>
              <a:ext cx="8659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ASTRA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13702" y="2335530"/>
              <a:ext cx="7761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70C0"/>
                  </a:solidFill>
                </a:rPr>
                <a:t>ECHO</a:t>
              </a:r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306746" y="4133879"/>
              <a:ext cx="8659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ASTRA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50136" y="4771757"/>
              <a:ext cx="7761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70C0"/>
                  </a:solidFill>
                </a:rPr>
                <a:t>ECHO</a:t>
              </a:r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76754" y="657929"/>
              <a:ext cx="25074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Longitudinal phase space</a:t>
              </a:r>
              <a:endParaRPr lang="en-US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863090" y="860095"/>
              <a:ext cx="13821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Mean energy</a:t>
              </a:r>
              <a:endParaRPr 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167680" y="866078"/>
              <a:ext cx="10615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RMS size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031425" y="3567139"/>
              <a:ext cx="15183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Energy spread</a:t>
              </a:r>
              <a:endParaRPr lang="en-US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32631" y="3573451"/>
              <a:ext cx="23166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Phase space emittance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03914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4. Full simulation of dielectric insert.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71501" y="657929"/>
            <a:ext cx="7269480" cy="5497669"/>
            <a:chOff x="571501" y="657929"/>
            <a:chExt cx="7269480" cy="5497669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1501" y="702399"/>
              <a:ext cx="7269480" cy="5453199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3221603" y="1590943"/>
              <a:ext cx="8659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ASTRA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502873" y="2031266"/>
              <a:ext cx="7761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70C0"/>
                  </a:solidFill>
                </a:rPr>
                <a:t>ECHO</a:t>
              </a:r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79049" y="4211687"/>
              <a:ext cx="8659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ASTRA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502874" y="4478923"/>
              <a:ext cx="7761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70C0"/>
                  </a:solidFill>
                </a:rPr>
                <a:t>ECHO</a:t>
              </a:r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76754" y="657929"/>
              <a:ext cx="25074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Longitudinal phase space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03914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-Vorlage_de">
  <a:themeElements>
    <a:clrScheme name="2_DESY_Vortrag_3-1 14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00A5EB"/>
      </a:accent1>
      <a:accent2>
        <a:srgbClr val="F28E00"/>
      </a:accent2>
      <a:accent3>
        <a:srgbClr val="FFFFFF"/>
      </a:accent3>
      <a:accent4>
        <a:srgbClr val="000000"/>
      </a:accent4>
      <a:accent5>
        <a:srgbClr val="AACFF3"/>
      </a:accent5>
      <a:accent6>
        <a:srgbClr val="DB8000"/>
      </a:accent6>
      <a:hlink>
        <a:srgbClr val="00A5EB"/>
      </a:hlink>
      <a:folHlink>
        <a:srgbClr val="808080"/>
      </a:folHlink>
    </a:clrScheme>
    <a:fontScheme name="2_DESY_Vortrag_3-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_DESY_Vortrag_3-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SY_Vortrag_3-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SY_Vortrag_3-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SY_Vortrag_3-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SY_Vortrag_3-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SY_Vortrag_3-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SY_Vortrag_3-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SY_Vortrag_3-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SY_Vortrag_3-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SY_Vortrag_3-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SY_Vortrag_3-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SY_Vortrag_3-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SY_Vortrag_3-1 13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00A5EB"/>
        </a:accent1>
        <a:accent2>
          <a:srgbClr val="F28E00"/>
        </a:accent2>
        <a:accent3>
          <a:srgbClr val="FFFFFF"/>
        </a:accent3>
        <a:accent4>
          <a:srgbClr val="000000"/>
        </a:accent4>
        <a:accent5>
          <a:srgbClr val="AACFF3"/>
        </a:accent5>
        <a:accent6>
          <a:srgbClr val="DB8000"/>
        </a:accent6>
        <a:hlink>
          <a:srgbClr val="00A5EB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SY_Vortrag_3-1 14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00A5EB"/>
        </a:accent1>
        <a:accent2>
          <a:srgbClr val="F28E00"/>
        </a:accent2>
        <a:accent3>
          <a:srgbClr val="FFFFFF"/>
        </a:accent3>
        <a:accent4>
          <a:srgbClr val="000000"/>
        </a:accent4>
        <a:accent5>
          <a:srgbClr val="AACFF3"/>
        </a:accent5>
        <a:accent6>
          <a:srgbClr val="DB8000"/>
        </a:accent6>
        <a:hlink>
          <a:srgbClr val="00A5EB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413</Words>
  <Application>Microsoft Office PowerPoint</Application>
  <PresentationFormat>On-screen Show (4:3)</PresentationFormat>
  <Paragraphs>197</Paragraphs>
  <Slides>19</Slides>
  <Notes>18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PPT-Vorlage_de</vt:lpstr>
      <vt:lpstr>Equation</vt:lpstr>
      <vt:lpstr>Dielectric pipes</vt:lpstr>
      <vt:lpstr>Geometry</vt:lpstr>
      <vt:lpstr>Tests</vt:lpstr>
      <vt:lpstr>Test 1. Drift in free space without fields</vt:lpstr>
      <vt:lpstr>Test 1. Drift in free space without fields</vt:lpstr>
      <vt:lpstr>Test 2 . Drift in pipe with self-field.</vt:lpstr>
      <vt:lpstr>Test 2 . Drift in pipe with self-field</vt:lpstr>
      <vt:lpstr>Test 2 . Drift in pipe with self-field</vt:lpstr>
      <vt:lpstr>Test 2 . Drift in pipe with self-field</vt:lpstr>
      <vt:lpstr>Test 3. Through metallic scraper</vt:lpstr>
      <vt:lpstr>Test 3. Through metallic scraper</vt:lpstr>
      <vt:lpstr>Test 3. Through metallic scraper</vt:lpstr>
      <vt:lpstr>Test 3. Through metallic scraper</vt:lpstr>
      <vt:lpstr>Test 3. Through metallic scraper</vt:lpstr>
      <vt:lpstr>Test 4. Full simulation of dielectric insert.</vt:lpstr>
      <vt:lpstr>Test 4. Full simulation of dielectric insert.</vt:lpstr>
      <vt:lpstr>Test 4. Full simulation of dielectric insert.</vt:lpstr>
      <vt:lpstr>Test 4. Full simulation of dielectric insert.</vt:lpstr>
      <vt:lpstr>Test 4. Full simulation of dielectric insert.</vt:lpstr>
    </vt:vector>
  </TitlesOfParts>
  <Company>DESY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Zagorodnov, Igor</dc:creator>
  <cp:lastModifiedBy>Zagorodnov, Igor</cp:lastModifiedBy>
  <cp:revision>846</cp:revision>
  <cp:lastPrinted>2016-04-19T14:07:30Z</cp:lastPrinted>
  <dcterms:created xsi:type="dcterms:W3CDTF">2012-01-18T19:29:16Z</dcterms:created>
  <dcterms:modified xsi:type="dcterms:W3CDTF">2017-08-17T12:54:29Z</dcterms:modified>
</cp:coreProperties>
</file>