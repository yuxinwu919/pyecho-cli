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8" r:id="rId3"/>
    <p:sldId id="258" r:id="rId4"/>
    <p:sldId id="257" r:id="rId5"/>
    <p:sldId id="259" r:id="rId6"/>
    <p:sldId id="260" r:id="rId7"/>
    <p:sldId id="262" r:id="rId8"/>
    <p:sldId id="263" r:id="rId9"/>
    <p:sldId id="265" r:id="rId10"/>
    <p:sldId id="266" r:id="rId11"/>
    <p:sldId id="264" r:id="rId12"/>
    <p:sldId id="267" r:id="rId13"/>
    <p:sldId id="268" r:id="rId14"/>
    <p:sldId id="273" r:id="rId15"/>
    <p:sldId id="269" r:id="rId16"/>
    <p:sldId id="270" r:id="rId17"/>
    <p:sldId id="271" r:id="rId18"/>
    <p:sldId id="272" r:id="rId19"/>
    <p:sldId id="274" r:id="rId20"/>
    <p:sldId id="277" r:id="rId21"/>
    <p:sldId id="279"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27" d="100"/>
          <a:sy n="127" d="100"/>
        </p:scale>
        <p:origin x="-1570" y="-77"/>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2FEC1FEF-F6B6-4932-A45B-3875FED27853}" type="datetimeFigureOut">
              <a:rPr lang="en-US" smtClean="0"/>
              <a:t>4/1/2016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D52668-C9FE-4506-8224-417C568FBC1F}" type="slidenum">
              <a:rPr lang="en-US" smtClean="0"/>
              <a:t>‹#›</a:t>
            </a:fld>
            <a:endParaRPr lang="en-US"/>
          </a:p>
        </p:txBody>
      </p:sp>
    </p:spTree>
    <p:extLst>
      <p:ext uri="{BB962C8B-B14F-4D97-AF65-F5344CB8AC3E}">
        <p14:creationId xmlns:p14="http://schemas.microsoft.com/office/powerpoint/2010/main" val="40470192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FEC1FEF-F6B6-4932-A45B-3875FED27853}" type="datetimeFigureOut">
              <a:rPr lang="en-US" smtClean="0"/>
              <a:t>4/1/2016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D52668-C9FE-4506-8224-417C568FBC1F}" type="slidenum">
              <a:rPr lang="en-US" smtClean="0"/>
              <a:t>‹#›</a:t>
            </a:fld>
            <a:endParaRPr lang="en-US"/>
          </a:p>
        </p:txBody>
      </p:sp>
    </p:spTree>
    <p:extLst>
      <p:ext uri="{BB962C8B-B14F-4D97-AF65-F5344CB8AC3E}">
        <p14:creationId xmlns:p14="http://schemas.microsoft.com/office/powerpoint/2010/main" val="22569417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FEC1FEF-F6B6-4932-A45B-3875FED27853}" type="datetimeFigureOut">
              <a:rPr lang="en-US" smtClean="0"/>
              <a:t>4/1/2016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D52668-C9FE-4506-8224-417C568FBC1F}" type="slidenum">
              <a:rPr lang="en-US" smtClean="0"/>
              <a:t>‹#›</a:t>
            </a:fld>
            <a:endParaRPr lang="en-US"/>
          </a:p>
        </p:txBody>
      </p:sp>
    </p:spTree>
    <p:extLst>
      <p:ext uri="{BB962C8B-B14F-4D97-AF65-F5344CB8AC3E}">
        <p14:creationId xmlns:p14="http://schemas.microsoft.com/office/powerpoint/2010/main" val="13221170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2FEC1FEF-F6B6-4932-A45B-3875FED27853}" type="datetimeFigureOut">
              <a:rPr lang="en-US" smtClean="0"/>
              <a:t>4/1/2016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D52668-C9FE-4506-8224-417C568FBC1F}" type="slidenum">
              <a:rPr lang="en-US" smtClean="0"/>
              <a:t>‹#›</a:t>
            </a:fld>
            <a:endParaRPr lang="en-US"/>
          </a:p>
        </p:txBody>
      </p:sp>
    </p:spTree>
    <p:extLst>
      <p:ext uri="{BB962C8B-B14F-4D97-AF65-F5344CB8AC3E}">
        <p14:creationId xmlns:p14="http://schemas.microsoft.com/office/powerpoint/2010/main" val="28100517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2FEC1FEF-F6B6-4932-A45B-3875FED27853}" type="datetimeFigureOut">
              <a:rPr lang="en-US" smtClean="0"/>
              <a:t>4/1/2016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7D52668-C9FE-4506-8224-417C568FBC1F}" type="slidenum">
              <a:rPr lang="en-US" smtClean="0"/>
              <a:t>‹#›</a:t>
            </a:fld>
            <a:endParaRPr lang="en-US"/>
          </a:p>
        </p:txBody>
      </p:sp>
    </p:spTree>
    <p:extLst>
      <p:ext uri="{BB962C8B-B14F-4D97-AF65-F5344CB8AC3E}">
        <p14:creationId xmlns:p14="http://schemas.microsoft.com/office/powerpoint/2010/main" val="11646088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2FEC1FEF-F6B6-4932-A45B-3875FED27853}" type="datetimeFigureOut">
              <a:rPr lang="en-US" smtClean="0"/>
              <a:t>4/1/2016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7D52668-C9FE-4506-8224-417C568FBC1F}" type="slidenum">
              <a:rPr lang="en-US" smtClean="0"/>
              <a:t>‹#›</a:t>
            </a:fld>
            <a:endParaRPr lang="en-US"/>
          </a:p>
        </p:txBody>
      </p:sp>
    </p:spTree>
    <p:extLst>
      <p:ext uri="{BB962C8B-B14F-4D97-AF65-F5344CB8AC3E}">
        <p14:creationId xmlns:p14="http://schemas.microsoft.com/office/powerpoint/2010/main" val="8478977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FEC1FEF-F6B6-4932-A45B-3875FED27853}" type="datetimeFigureOut">
              <a:rPr lang="en-US" smtClean="0"/>
              <a:t>4/1/2016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7D52668-C9FE-4506-8224-417C568FBC1F}" type="slidenum">
              <a:rPr lang="en-US" smtClean="0"/>
              <a:t>‹#›</a:t>
            </a:fld>
            <a:endParaRPr lang="en-US"/>
          </a:p>
        </p:txBody>
      </p:sp>
    </p:spTree>
    <p:extLst>
      <p:ext uri="{BB962C8B-B14F-4D97-AF65-F5344CB8AC3E}">
        <p14:creationId xmlns:p14="http://schemas.microsoft.com/office/powerpoint/2010/main" val="17369931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FEC1FEF-F6B6-4932-A45B-3875FED27853}" type="datetimeFigureOut">
              <a:rPr lang="en-US" smtClean="0"/>
              <a:t>4/1/2016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D52668-C9FE-4506-8224-417C568FBC1F}" type="slidenum">
              <a:rPr lang="en-US" smtClean="0"/>
              <a:t>‹#›</a:t>
            </a:fld>
            <a:endParaRPr lang="en-US"/>
          </a:p>
        </p:txBody>
      </p:sp>
    </p:spTree>
    <p:extLst>
      <p:ext uri="{BB962C8B-B14F-4D97-AF65-F5344CB8AC3E}">
        <p14:creationId xmlns:p14="http://schemas.microsoft.com/office/powerpoint/2010/main" val="40758119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FEC1FEF-F6B6-4932-A45B-3875FED27853}" type="datetimeFigureOut">
              <a:rPr lang="en-US" smtClean="0"/>
              <a:t>4/1/2016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D52668-C9FE-4506-8224-417C568FBC1F}" type="slidenum">
              <a:rPr lang="en-US" smtClean="0"/>
              <a:t>‹#›</a:t>
            </a:fld>
            <a:endParaRPr lang="en-US"/>
          </a:p>
        </p:txBody>
      </p:sp>
    </p:spTree>
    <p:extLst>
      <p:ext uri="{BB962C8B-B14F-4D97-AF65-F5344CB8AC3E}">
        <p14:creationId xmlns:p14="http://schemas.microsoft.com/office/powerpoint/2010/main" val="346497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FEC1FEF-F6B6-4932-A45B-3875FED27853}" type="datetimeFigureOut">
              <a:rPr lang="en-US" smtClean="0"/>
              <a:t>4/1/2016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D52668-C9FE-4506-8224-417C568FBC1F}" type="slidenum">
              <a:rPr lang="en-US" smtClean="0"/>
              <a:t>‹#›</a:t>
            </a:fld>
            <a:endParaRPr lang="en-US"/>
          </a:p>
        </p:txBody>
      </p:sp>
    </p:spTree>
    <p:extLst>
      <p:ext uri="{BB962C8B-B14F-4D97-AF65-F5344CB8AC3E}">
        <p14:creationId xmlns:p14="http://schemas.microsoft.com/office/powerpoint/2010/main" val="7881565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FEC1FEF-F6B6-4932-A45B-3875FED27853}" type="datetimeFigureOut">
              <a:rPr lang="en-US" smtClean="0"/>
              <a:t>4/1/2016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D52668-C9FE-4506-8224-417C568FBC1F}" type="slidenum">
              <a:rPr lang="en-US" smtClean="0"/>
              <a:t>‹#›</a:t>
            </a:fld>
            <a:endParaRPr lang="en-US"/>
          </a:p>
        </p:txBody>
      </p:sp>
    </p:spTree>
    <p:extLst>
      <p:ext uri="{BB962C8B-B14F-4D97-AF65-F5344CB8AC3E}">
        <p14:creationId xmlns:p14="http://schemas.microsoft.com/office/powerpoint/2010/main" val="9973175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FEC1FEF-F6B6-4932-A45B-3875FED27853}" type="datetimeFigureOut">
              <a:rPr lang="en-US" smtClean="0"/>
              <a:t>4/1/2016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7D52668-C9FE-4506-8224-417C568FBC1F}" type="slidenum">
              <a:rPr lang="en-US" smtClean="0"/>
              <a:t>‹#›</a:t>
            </a:fld>
            <a:endParaRPr lang="en-US"/>
          </a:p>
        </p:txBody>
      </p:sp>
    </p:spTree>
    <p:extLst>
      <p:ext uri="{BB962C8B-B14F-4D97-AF65-F5344CB8AC3E}">
        <p14:creationId xmlns:p14="http://schemas.microsoft.com/office/powerpoint/2010/main" val="37321269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emf"/><Relationship Id="rId1" Type="http://schemas.openxmlformats.org/officeDocument/2006/relationships/slideLayout" Target="../slideLayouts/slideLayout2.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A Short ECHO Manual </a:t>
            </a:r>
            <a:br>
              <a:rPr lang="en-US" dirty="0" smtClean="0"/>
            </a:br>
            <a:r>
              <a:rPr lang="en-US" dirty="0" smtClean="0"/>
              <a:t>for Rectangular Structures</a:t>
            </a:r>
            <a:endParaRPr lang="en-US" dirty="0"/>
          </a:p>
        </p:txBody>
      </p:sp>
      <p:sp>
        <p:nvSpPr>
          <p:cNvPr id="3" name="Subtitle 2"/>
          <p:cNvSpPr>
            <a:spLocks noGrp="1"/>
          </p:cNvSpPr>
          <p:nvPr>
            <p:ph type="subTitle" idx="1"/>
          </p:nvPr>
        </p:nvSpPr>
        <p:spPr/>
        <p:txBody>
          <a:bodyPr/>
          <a:lstStyle/>
          <a:p>
            <a:r>
              <a:rPr lang="de-DE" dirty="0" smtClean="0"/>
              <a:t>Igor Zagorodnov</a:t>
            </a:r>
          </a:p>
          <a:p>
            <a:r>
              <a:rPr lang="de-DE" dirty="0" smtClean="0"/>
              <a:t>1 April 2016</a:t>
            </a:r>
            <a:endParaRPr lang="en-US" dirty="0"/>
          </a:p>
        </p:txBody>
      </p:sp>
    </p:spTree>
    <p:extLst>
      <p:ext uri="{BB962C8B-B14F-4D97-AF65-F5344CB8AC3E}">
        <p14:creationId xmlns:p14="http://schemas.microsoft.com/office/powerpoint/2010/main" val="18933072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116632"/>
            <a:ext cx="8229600" cy="1143000"/>
          </a:xfrm>
        </p:spPr>
        <p:txBody>
          <a:bodyPr/>
          <a:lstStyle/>
          <a:p>
            <a:r>
              <a:rPr lang="de-DE" dirty="0" smtClean="0"/>
              <a:t> </a:t>
            </a:r>
            <a:r>
              <a:rPr lang="de-DE" dirty="0"/>
              <a:t>C</a:t>
            </a:r>
            <a:r>
              <a:rPr lang="de-DE" dirty="0" smtClean="0"/>
              <a:t>ontents</a:t>
            </a:r>
            <a:endParaRPr lang="en-US" dirty="0"/>
          </a:p>
        </p:txBody>
      </p:sp>
      <p:sp>
        <p:nvSpPr>
          <p:cNvPr id="5" name="Rectangle 4"/>
          <p:cNvSpPr/>
          <p:nvPr/>
        </p:nvSpPr>
        <p:spPr>
          <a:xfrm>
            <a:off x="1043608" y="1124744"/>
            <a:ext cx="7344816" cy="4093428"/>
          </a:xfrm>
          <a:prstGeom prst="rect">
            <a:avLst/>
          </a:prstGeom>
        </p:spPr>
        <p:txBody>
          <a:bodyPr wrap="square">
            <a:spAutoFit/>
          </a:bodyPr>
          <a:lstStyle/>
          <a:p>
            <a:pPr marL="457200" indent="-457200">
              <a:buAutoNum type="arabicPeriod"/>
            </a:pPr>
            <a:r>
              <a:rPr lang="en-US" sz="2000" dirty="0" smtClean="0"/>
              <a:t>Create geometry file.</a:t>
            </a:r>
          </a:p>
          <a:p>
            <a:pPr marL="457200" indent="-457200">
              <a:buAutoNum type="arabicPeriod"/>
            </a:pPr>
            <a:r>
              <a:rPr lang="en-US" sz="2000" dirty="0" smtClean="0"/>
              <a:t>Check and correct geometry with Windows GUI version (if possible).</a:t>
            </a:r>
          </a:p>
          <a:p>
            <a:pPr marL="457200" indent="-457200">
              <a:buAutoNum type="arabicPeriod"/>
            </a:pPr>
            <a:r>
              <a:rPr lang="en-US" sz="2000" dirty="0" smtClean="0"/>
              <a:t>Prepare files for console version.</a:t>
            </a:r>
          </a:p>
          <a:p>
            <a:pPr marL="457200" indent="-457200">
              <a:buAutoNum type="arabicPeriod"/>
            </a:pPr>
            <a:r>
              <a:rPr lang="en-US" sz="2000" dirty="0" smtClean="0"/>
              <a:t>Calculate symmetric modes.</a:t>
            </a:r>
          </a:p>
          <a:p>
            <a:pPr marL="457200" indent="-457200">
              <a:buAutoNum type="arabicPeriod"/>
            </a:pPr>
            <a:r>
              <a:rPr lang="en-US" sz="2000" dirty="0" smtClean="0"/>
              <a:t>Post-processing for longitudinal and quadrupole wakes on axis.</a:t>
            </a:r>
          </a:p>
          <a:p>
            <a:pPr marL="457200" indent="-457200">
              <a:buAutoNum type="arabicPeriod"/>
            </a:pPr>
            <a:r>
              <a:rPr lang="en-US" sz="2000" dirty="0" smtClean="0"/>
              <a:t>Calculate antisymmetric modes.</a:t>
            </a:r>
          </a:p>
          <a:p>
            <a:pPr marL="457200" indent="-457200">
              <a:buAutoNum type="arabicPeriod"/>
            </a:pPr>
            <a:r>
              <a:rPr lang="en-US" sz="2000" dirty="0" smtClean="0"/>
              <a:t>Post-processing for dipole wake on axis.</a:t>
            </a:r>
          </a:p>
          <a:p>
            <a:pPr marL="457200" indent="-457200">
              <a:buAutoNum type="arabicPeriod"/>
            </a:pPr>
            <a:r>
              <a:rPr lang="en-US" sz="2000" dirty="0" smtClean="0"/>
              <a:t>Post-processing for longitudinal and transverse wakes for arbitrary offsets.</a:t>
            </a:r>
          </a:p>
          <a:p>
            <a:pPr marL="457200" indent="-457200">
              <a:buAutoNum type="arabicPeriod"/>
            </a:pPr>
            <a:r>
              <a:rPr lang="en-US" sz="2000" dirty="0" smtClean="0"/>
              <a:t>Accuracy check.</a:t>
            </a:r>
          </a:p>
          <a:p>
            <a:pPr marL="457200" indent="-457200">
              <a:buAutoNum type="arabicPeriod"/>
            </a:pPr>
            <a:endParaRPr lang="en-US" sz="2000" dirty="0" smtClean="0"/>
          </a:p>
          <a:p>
            <a:pPr marL="457200" indent="-457200">
              <a:buAutoNum type="arabicPeriod"/>
            </a:pPr>
            <a:endParaRPr lang="en-US" sz="2000" dirty="0"/>
          </a:p>
        </p:txBody>
      </p:sp>
    </p:spTree>
    <p:extLst>
      <p:ext uri="{BB962C8B-B14F-4D97-AF65-F5344CB8AC3E}">
        <p14:creationId xmlns:p14="http://schemas.microsoft.com/office/powerpoint/2010/main" val="11296183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116632"/>
            <a:ext cx="8229600" cy="1143000"/>
          </a:xfrm>
        </p:spPr>
        <p:txBody>
          <a:bodyPr/>
          <a:lstStyle/>
          <a:p>
            <a:r>
              <a:rPr lang="en-US" dirty="0" smtClean="0"/>
              <a:t>1. Create geometry file.</a:t>
            </a:r>
            <a:endParaRPr lang="en-US" dirty="0"/>
          </a:p>
        </p:txBody>
      </p:sp>
      <p:sp>
        <p:nvSpPr>
          <p:cNvPr id="4" name="Rectangle 3"/>
          <p:cNvSpPr/>
          <p:nvPr/>
        </p:nvSpPr>
        <p:spPr>
          <a:xfrm>
            <a:off x="1125466" y="1124744"/>
            <a:ext cx="7056784" cy="4093428"/>
          </a:xfrm>
          <a:prstGeom prst="rect">
            <a:avLst/>
          </a:prstGeom>
        </p:spPr>
        <p:txBody>
          <a:bodyPr wrap="square">
            <a:spAutoFit/>
          </a:bodyPr>
          <a:lstStyle/>
          <a:p>
            <a:r>
              <a:rPr lang="en-US" sz="2000" dirty="0" smtClean="0"/>
              <a:t>Format</a:t>
            </a:r>
          </a:p>
          <a:p>
            <a:r>
              <a:rPr lang="en-US" sz="2000" dirty="0" smtClean="0"/>
              <a:t>n</a:t>
            </a:r>
          </a:p>
          <a:p>
            <a:r>
              <a:rPr lang="en-US" sz="2000" dirty="0" smtClean="0"/>
              <a:t>t1 t2 t3 t4 t5 t6 t7 t8 t9 t10</a:t>
            </a:r>
          </a:p>
          <a:p>
            <a:r>
              <a:rPr lang="de-DE" sz="2000" dirty="0" smtClean="0"/>
              <a:t>…</a:t>
            </a:r>
            <a:endParaRPr lang="de-DE" sz="2000" dirty="0"/>
          </a:p>
          <a:p>
            <a:endParaRPr lang="de-DE" sz="2000" dirty="0" smtClean="0"/>
          </a:p>
          <a:p>
            <a:endParaRPr lang="en-US" sz="2000" dirty="0" smtClean="0"/>
          </a:p>
          <a:p>
            <a:r>
              <a:rPr lang="en-US" sz="2000" dirty="0" smtClean="0"/>
              <a:t>n -number of elements;</a:t>
            </a:r>
          </a:p>
          <a:p>
            <a:r>
              <a:rPr lang="en-US" sz="2000" dirty="0" smtClean="0"/>
              <a:t>t1 t2 – </a:t>
            </a:r>
            <a:r>
              <a:rPr lang="en-US" sz="2000" dirty="0" err="1" smtClean="0"/>
              <a:t>StartPoint</a:t>
            </a:r>
            <a:r>
              <a:rPr lang="en-US" sz="2000" dirty="0" smtClean="0"/>
              <a:t> (</a:t>
            </a:r>
            <a:r>
              <a:rPr lang="en-US" sz="2000" dirty="0" err="1" smtClean="0"/>
              <a:t>z,r</a:t>
            </a:r>
            <a:r>
              <a:rPr lang="en-US" sz="2000" dirty="0" smtClean="0"/>
              <a:t>);</a:t>
            </a:r>
          </a:p>
          <a:p>
            <a:r>
              <a:rPr lang="en-US" sz="2000" dirty="0" smtClean="0"/>
              <a:t>t3 t4 –</a:t>
            </a:r>
            <a:r>
              <a:rPr lang="en-US" sz="2000" dirty="0" err="1" smtClean="0"/>
              <a:t>EndPoint</a:t>
            </a:r>
            <a:r>
              <a:rPr lang="en-US" sz="2000" dirty="0"/>
              <a:t> </a:t>
            </a:r>
            <a:r>
              <a:rPr lang="en-US" sz="2000" dirty="0" smtClean="0"/>
              <a:t>(</a:t>
            </a:r>
            <a:r>
              <a:rPr lang="en-US" sz="2000" dirty="0" err="1" smtClean="0"/>
              <a:t>z,r</a:t>
            </a:r>
            <a:r>
              <a:rPr lang="en-US" sz="2000" dirty="0" smtClean="0"/>
              <a:t>);</a:t>
            </a:r>
          </a:p>
          <a:p>
            <a:r>
              <a:rPr lang="en-US" sz="2000" dirty="0" smtClean="0"/>
              <a:t>t5 t6 t7 t8 - coordinates of square in which the ellipse is inscribed  (for lines these parameters should be zeros) ;</a:t>
            </a:r>
          </a:p>
          <a:p>
            <a:r>
              <a:rPr lang="en-US" sz="2000" dirty="0" smtClean="0"/>
              <a:t>t9 - orientation (clock/</a:t>
            </a:r>
            <a:r>
              <a:rPr lang="en-US" sz="2000" dirty="0" err="1" smtClean="0"/>
              <a:t>anticlock</a:t>
            </a:r>
            <a:r>
              <a:rPr lang="en-US" sz="2000" dirty="0" smtClean="0"/>
              <a:t>);</a:t>
            </a:r>
          </a:p>
          <a:p>
            <a:r>
              <a:rPr lang="en-US" sz="2000" dirty="0" smtClean="0"/>
              <a:t>t10- conductivity in S/m</a:t>
            </a:r>
            <a:endParaRPr lang="en-US" sz="2000" dirty="0"/>
          </a:p>
        </p:txBody>
      </p:sp>
      <p:sp>
        <p:nvSpPr>
          <p:cNvPr id="5" name="Rectangle 4"/>
          <p:cNvSpPr/>
          <p:nvPr/>
        </p:nvSpPr>
        <p:spPr>
          <a:xfrm>
            <a:off x="1043608" y="5589240"/>
            <a:ext cx="7344816" cy="707886"/>
          </a:xfrm>
          <a:prstGeom prst="rect">
            <a:avLst/>
          </a:prstGeom>
        </p:spPr>
        <p:txBody>
          <a:bodyPr wrap="square">
            <a:spAutoFit/>
          </a:bodyPr>
          <a:lstStyle/>
          <a:p>
            <a:r>
              <a:rPr lang="en-US" sz="2000" dirty="0"/>
              <a:t>G</a:t>
            </a:r>
            <a:r>
              <a:rPr lang="en-US" sz="2000" dirty="0" smtClean="0"/>
              <a:t>eometry dimensions could be in mm/cm/m for console version. It would be better to use cm for compatibility  with GUI version.</a:t>
            </a:r>
            <a:endParaRPr lang="en-US" sz="2000" dirty="0"/>
          </a:p>
        </p:txBody>
      </p:sp>
    </p:spTree>
    <p:extLst>
      <p:ext uri="{BB962C8B-B14F-4D97-AF65-F5344CB8AC3E}">
        <p14:creationId xmlns:p14="http://schemas.microsoft.com/office/powerpoint/2010/main" val="28882857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51520" y="1124744"/>
            <a:ext cx="8784976" cy="2554545"/>
          </a:xfrm>
          <a:prstGeom prst="rect">
            <a:avLst/>
          </a:prstGeom>
        </p:spPr>
        <p:txBody>
          <a:bodyPr wrap="square">
            <a:spAutoFit/>
          </a:bodyPr>
          <a:lstStyle/>
          <a:p>
            <a:r>
              <a:rPr lang="en-US" sz="2000" dirty="0" smtClean="0"/>
              <a:t>Example. File „</a:t>
            </a:r>
            <a:r>
              <a:rPr lang="en-US" sz="2000" dirty="0" err="1" smtClean="0"/>
              <a:t>Windows_GUI</a:t>
            </a:r>
            <a:r>
              <a:rPr lang="en-US" sz="2000" dirty="0" smtClean="0"/>
              <a:t>\photon_absorber_cm.txt “</a:t>
            </a:r>
          </a:p>
          <a:p>
            <a:endParaRPr lang="en-US" sz="2000" dirty="0" smtClean="0"/>
          </a:p>
          <a:p>
            <a:r>
              <a:rPr lang="en-US" sz="2000" dirty="0" smtClean="0"/>
              <a:t>5</a:t>
            </a:r>
          </a:p>
          <a:p>
            <a:r>
              <a:rPr lang="en-US" sz="2000" dirty="0" smtClean="0"/>
              <a:t>0    	6    	1    	6    	0   	0   	0    	0    	1     	0</a:t>
            </a:r>
          </a:p>
          <a:p>
            <a:r>
              <a:rPr lang="en-US" sz="2000" dirty="0" smtClean="0"/>
              <a:t>1    	6    	1.01    	3.2    	0    	0    	0    	0  	1     	0</a:t>
            </a:r>
          </a:p>
          <a:p>
            <a:r>
              <a:rPr lang="en-US" sz="2000" dirty="0" smtClean="0"/>
              <a:t>1.01    	3.2    	1.91    	3.2    	0 	0 	0 	0 	1	0 </a:t>
            </a:r>
          </a:p>
          <a:p>
            <a:r>
              <a:rPr lang="en-US" sz="2000" dirty="0" smtClean="0"/>
              <a:t>1.91    	3.2    	2.82    	6    	0	0	0	0	1	0   </a:t>
            </a:r>
          </a:p>
          <a:p>
            <a:r>
              <a:rPr lang="en-US" sz="2000" dirty="0" smtClean="0"/>
              <a:t>2.82   	6    	2.92    	6	0	0	0	0	1	0</a:t>
            </a:r>
            <a:endParaRPr lang="en-US" sz="2000" dirty="0"/>
          </a:p>
        </p:txBody>
      </p:sp>
    </p:spTree>
    <p:extLst>
      <p:ext uri="{BB962C8B-B14F-4D97-AF65-F5344CB8AC3E}">
        <p14:creationId xmlns:p14="http://schemas.microsoft.com/office/powerpoint/2010/main" val="27725783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16632"/>
            <a:ext cx="8481120" cy="1143000"/>
          </a:xfrm>
        </p:spPr>
        <p:txBody>
          <a:bodyPr>
            <a:normAutofit fontScale="90000"/>
          </a:bodyPr>
          <a:lstStyle/>
          <a:p>
            <a:r>
              <a:rPr lang="en-US" dirty="0" smtClean="0"/>
              <a:t>2. Check and correct Geometry with Windows GUI version (if possible)</a:t>
            </a:r>
            <a:endParaRPr lang="en-US" dirty="0"/>
          </a:p>
        </p:txBody>
      </p:sp>
      <p:sp>
        <p:nvSpPr>
          <p:cNvPr id="7" name="Rectangle 6"/>
          <p:cNvSpPr/>
          <p:nvPr/>
        </p:nvSpPr>
        <p:spPr>
          <a:xfrm>
            <a:off x="395536" y="5648223"/>
            <a:ext cx="7776864" cy="400110"/>
          </a:xfrm>
          <a:prstGeom prst="rect">
            <a:avLst/>
          </a:prstGeom>
        </p:spPr>
        <p:txBody>
          <a:bodyPr wrap="square">
            <a:spAutoFit/>
          </a:bodyPr>
          <a:lstStyle/>
          <a:p>
            <a:r>
              <a:rPr lang="en-US" sz="2000" dirty="0" smtClean="0"/>
              <a:t>Go to  “Geometry\Import” and choose file “</a:t>
            </a:r>
            <a:r>
              <a:rPr lang="de-DE" sz="2000" dirty="0" smtClean="0"/>
              <a:t>photon_absorber_cm.txt „</a:t>
            </a:r>
            <a:endParaRPr lang="en-US" sz="2000" dirty="0"/>
          </a:p>
        </p:txBody>
      </p:sp>
      <p:pic>
        <p:nvPicPr>
          <p:cNvPr id="1029"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2778" y="2028860"/>
            <a:ext cx="5448300" cy="3600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Rectangle 9"/>
          <p:cNvSpPr/>
          <p:nvPr/>
        </p:nvSpPr>
        <p:spPr>
          <a:xfrm>
            <a:off x="395536" y="1412776"/>
            <a:ext cx="7776864" cy="400110"/>
          </a:xfrm>
          <a:prstGeom prst="rect">
            <a:avLst/>
          </a:prstGeom>
        </p:spPr>
        <p:txBody>
          <a:bodyPr wrap="square">
            <a:spAutoFit/>
          </a:bodyPr>
          <a:lstStyle/>
          <a:p>
            <a:r>
              <a:rPr lang="en-US" sz="2000" dirty="0" smtClean="0"/>
              <a:t>Start “</a:t>
            </a:r>
            <a:r>
              <a:rPr lang="en-US" sz="2000" dirty="0" err="1" smtClean="0"/>
              <a:t>Windows_GUI</a:t>
            </a:r>
            <a:r>
              <a:rPr lang="en-US" sz="2000" dirty="0" smtClean="0"/>
              <a:t>\ECHO2D_GUI.exe”</a:t>
            </a:r>
            <a:endParaRPr lang="en-US" sz="2000" dirty="0"/>
          </a:p>
        </p:txBody>
      </p:sp>
    </p:spTree>
    <p:extLst>
      <p:ext uri="{BB962C8B-B14F-4D97-AF65-F5344CB8AC3E}">
        <p14:creationId xmlns:p14="http://schemas.microsoft.com/office/powerpoint/2010/main" val="18858747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100" y="1738313"/>
            <a:ext cx="8305800" cy="3381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452905" y="332656"/>
            <a:ext cx="7776864" cy="707886"/>
          </a:xfrm>
          <a:prstGeom prst="rect">
            <a:avLst/>
          </a:prstGeom>
        </p:spPr>
        <p:txBody>
          <a:bodyPr wrap="square">
            <a:spAutoFit/>
          </a:bodyPr>
          <a:lstStyle/>
          <a:p>
            <a:r>
              <a:rPr lang="en-US" sz="2000" dirty="0" smtClean="0"/>
              <a:t>Make a test simulation for mode 0. If required, correct the geometry and use „Geometry\Export“ menu to save it to file.</a:t>
            </a:r>
            <a:endParaRPr lang="en-US" sz="2000" dirty="0"/>
          </a:p>
        </p:txBody>
      </p:sp>
    </p:spTree>
    <p:extLst>
      <p:ext uri="{BB962C8B-B14F-4D97-AF65-F5344CB8AC3E}">
        <p14:creationId xmlns:p14="http://schemas.microsoft.com/office/powerpoint/2010/main" val="32816271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16632"/>
            <a:ext cx="8481120" cy="1143000"/>
          </a:xfrm>
        </p:spPr>
        <p:txBody>
          <a:bodyPr>
            <a:normAutofit/>
          </a:bodyPr>
          <a:lstStyle/>
          <a:p>
            <a:r>
              <a:rPr lang="en-US" dirty="0" smtClean="0"/>
              <a:t>3. Prepare files for console version.</a:t>
            </a:r>
            <a:endParaRPr lang="en-US" dirty="0"/>
          </a:p>
        </p:txBody>
      </p:sp>
      <p:sp>
        <p:nvSpPr>
          <p:cNvPr id="5" name="Rectangle 4"/>
          <p:cNvSpPr/>
          <p:nvPr/>
        </p:nvSpPr>
        <p:spPr>
          <a:xfrm>
            <a:off x="827584" y="1196752"/>
            <a:ext cx="7344816" cy="1938992"/>
          </a:xfrm>
          <a:prstGeom prst="rect">
            <a:avLst/>
          </a:prstGeom>
        </p:spPr>
        <p:txBody>
          <a:bodyPr wrap="square">
            <a:spAutoFit/>
          </a:bodyPr>
          <a:lstStyle/>
          <a:p>
            <a:r>
              <a:rPr lang="en-US" sz="2000" dirty="0" smtClean="0"/>
              <a:t>Directory “</a:t>
            </a:r>
            <a:r>
              <a:rPr lang="en-US" sz="2000" dirty="0" err="1" smtClean="0"/>
              <a:t>Windows_Console</a:t>
            </a:r>
            <a:r>
              <a:rPr lang="en-US" sz="2000" dirty="0" smtClean="0"/>
              <a:t>”  or “</a:t>
            </a:r>
            <a:r>
              <a:rPr lang="en-US" sz="2000" dirty="0" err="1" smtClean="0"/>
              <a:t>MACOSX_Console</a:t>
            </a:r>
            <a:r>
              <a:rPr lang="en-US" sz="2000" dirty="0" smtClean="0"/>
              <a:t>” should have 3 files.</a:t>
            </a:r>
          </a:p>
          <a:p>
            <a:r>
              <a:rPr lang="en-US" sz="2000" dirty="0" smtClean="0"/>
              <a:t>1. Executable „echo2D_THREADS.exe “. </a:t>
            </a:r>
          </a:p>
          <a:p>
            <a:r>
              <a:rPr lang="en-US" sz="2000" dirty="0" smtClean="0"/>
              <a:t>2. Geometry file „photon_absorber_cm.txt “.</a:t>
            </a:r>
          </a:p>
          <a:p>
            <a:r>
              <a:rPr lang="en-US" sz="2000" dirty="0" smtClean="0"/>
              <a:t>3. Command file „input_in.txt“.</a:t>
            </a:r>
          </a:p>
          <a:p>
            <a:endParaRPr lang="en-US" sz="2000" dirty="0"/>
          </a:p>
        </p:txBody>
      </p:sp>
      <p:sp>
        <p:nvSpPr>
          <p:cNvPr id="6" name="Rectangle 5"/>
          <p:cNvSpPr/>
          <p:nvPr/>
        </p:nvSpPr>
        <p:spPr>
          <a:xfrm>
            <a:off x="817981" y="3761606"/>
            <a:ext cx="7776864" cy="707886"/>
          </a:xfrm>
          <a:prstGeom prst="rect">
            <a:avLst/>
          </a:prstGeom>
        </p:spPr>
        <p:txBody>
          <a:bodyPr wrap="square">
            <a:spAutoFit/>
          </a:bodyPr>
          <a:lstStyle/>
          <a:p>
            <a:r>
              <a:rPr lang="en-US" sz="2000" dirty="0" smtClean="0"/>
              <a:t>In the command file all dimensions in meters. „Units“ are used only for „</a:t>
            </a:r>
            <a:r>
              <a:rPr lang="en-US" sz="2000" dirty="0" err="1" smtClean="0"/>
              <a:t>GeometryFile</a:t>
            </a:r>
            <a:r>
              <a:rPr lang="en-US" sz="2000" dirty="0" smtClean="0"/>
              <a:t>“ (cm in this example). </a:t>
            </a:r>
            <a:endParaRPr lang="en-US" sz="2000" dirty="0"/>
          </a:p>
        </p:txBody>
      </p:sp>
      <p:sp>
        <p:nvSpPr>
          <p:cNvPr id="7" name="Rectangle 6"/>
          <p:cNvSpPr/>
          <p:nvPr/>
        </p:nvSpPr>
        <p:spPr>
          <a:xfrm>
            <a:off x="827584" y="4797152"/>
            <a:ext cx="7344816" cy="1323439"/>
          </a:xfrm>
          <a:prstGeom prst="rect">
            <a:avLst/>
          </a:prstGeom>
        </p:spPr>
        <p:txBody>
          <a:bodyPr wrap="square">
            <a:spAutoFit/>
          </a:bodyPr>
          <a:lstStyle/>
          <a:p>
            <a:r>
              <a:rPr lang="en-US" sz="2000" dirty="0" smtClean="0"/>
              <a:t>In all calculation it is recommended to use „Offset=-1“. It places the beam as close to the boundary as possible to increase an accuracy of higher order modes.</a:t>
            </a:r>
          </a:p>
          <a:p>
            <a:endParaRPr lang="en-US" sz="2000" dirty="0"/>
          </a:p>
        </p:txBody>
      </p:sp>
    </p:spTree>
    <p:extLst>
      <p:ext uri="{BB962C8B-B14F-4D97-AF65-F5344CB8AC3E}">
        <p14:creationId xmlns:p14="http://schemas.microsoft.com/office/powerpoint/2010/main" val="16678717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99924" y="188640"/>
            <a:ext cx="8532440" cy="6555641"/>
          </a:xfrm>
          <a:prstGeom prst="rect">
            <a:avLst/>
          </a:prstGeom>
        </p:spPr>
        <p:txBody>
          <a:bodyPr wrap="square">
            <a:spAutoFit/>
          </a:bodyPr>
          <a:lstStyle/>
          <a:p>
            <a:r>
              <a:rPr lang="en-US" sz="1400" dirty="0" smtClean="0"/>
              <a:t>%%%%%%%%%%%%%% geometry %%%%%%%%%%%%%%%%%%%%</a:t>
            </a:r>
          </a:p>
          <a:p>
            <a:r>
              <a:rPr lang="en-US" sz="1400" dirty="0" err="1" smtClean="0"/>
              <a:t>GeometryFile</a:t>
            </a:r>
            <a:r>
              <a:rPr lang="en-US" sz="1400" dirty="0" smtClean="0"/>
              <a:t>= photon_absorber_cm.txt	% geometry in "Units" </a:t>
            </a:r>
          </a:p>
          <a:p>
            <a:r>
              <a:rPr lang="en-US" sz="1400" dirty="0" smtClean="0"/>
              <a:t>Units= cm			% m/cm/mm - only for </a:t>
            </a:r>
            <a:r>
              <a:rPr lang="en-US" sz="1400" dirty="0" err="1" smtClean="0"/>
              <a:t>GeometryFile</a:t>
            </a:r>
            <a:r>
              <a:rPr lang="en-US" sz="1400" dirty="0" smtClean="0"/>
              <a:t>!!! </a:t>
            </a:r>
          </a:p>
          <a:p>
            <a:r>
              <a:rPr lang="en-US" sz="1400" dirty="0" err="1" smtClean="0"/>
              <a:t>GeometryType</a:t>
            </a:r>
            <a:r>
              <a:rPr lang="en-US" sz="1400" dirty="0" smtClean="0"/>
              <a:t>= recta  		% recta/round</a:t>
            </a:r>
          </a:p>
          <a:p>
            <a:r>
              <a:rPr lang="en-US" sz="1400" dirty="0" smtClean="0"/>
              <a:t>Width= 0.07			% in m</a:t>
            </a:r>
          </a:p>
          <a:p>
            <a:r>
              <a:rPr lang="en-US" sz="1400" dirty="0" err="1" smtClean="0"/>
              <a:t>SymmetryCondition</a:t>
            </a:r>
            <a:r>
              <a:rPr lang="en-US" sz="1400" dirty="0" smtClean="0"/>
              <a:t>= </a:t>
            </a:r>
            <a:r>
              <a:rPr lang="en-US" sz="1400" dirty="0" err="1" smtClean="0"/>
              <a:t>magn</a:t>
            </a:r>
            <a:r>
              <a:rPr lang="en-US" sz="1400" dirty="0" smtClean="0"/>
              <a:t> 	% </a:t>
            </a:r>
            <a:r>
              <a:rPr lang="en-US" sz="1400" dirty="0" err="1" smtClean="0"/>
              <a:t>magn</a:t>
            </a:r>
            <a:r>
              <a:rPr lang="en-US" sz="1400" dirty="0" smtClean="0"/>
              <a:t>/</a:t>
            </a:r>
            <a:r>
              <a:rPr lang="en-US" sz="1400" dirty="0" err="1" smtClean="0"/>
              <a:t>elec</a:t>
            </a:r>
            <a:r>
              <a:rPr lang="en-US" sz="1400" dirty="0" smtClean="0"/>
              <a:t> - boundary condition on axis	</a:t>
            </a:r>
          </a:p>
          <a:p>
            <a:r>
              <a:rPr lang="en-US" sz="1400" dirty="0" smtClean="0"/>
              <a:t>Convex=1;			% 1(convex)/0(no)</a:t>
            </a:r>
          </a:p>
          <a:p>
            <a:endParaRPr lang="en-US" sz="1400" dirty="0" smtClean="0"/>
          </a:p>
          <a:p>
            <a:r>
              <a:rPr lang="en-US" sz="1400" dirty="0" smtClean="0"/>
              <a:t>%%%%%%%%%%%%%%% input beam and field %%%%%%%%%%%%%%%%%%</a:t>
            </a:r>
          </a:p>
          <a:p>
            <a:r>
              <a:rPr lang="en-US" sz="1400" dirty="0" err="1" smtClean="0"/>
              <a:t>InPartFile</a:t>
            </a:r>
            <a:r>
              <a:rPr lang="en-US" sz="1400" dirty="0" smtClean="0"/>
              <a:t>= -  	     	% -(Gaussian pencil beam)</a:t>
            </a:r>
          </a:p>
          <a:p>
            <a:r>
              <a:rPr lang="en-US" sz="1400" dirty="0" err="1" smtClean="0"/>
              <a:t>BunchSigma</a:t>
            </a:r>
            <a:r>
              <a:rPr lang="en-US" sz="1400" dirty="0" smtClean="0"/>
              <a:t>= 0.004  		% in m </a:t>
            </a:r>
          </a:p>
          <a:p>
            <a:r>
              <a:rPr lang="en-US" sz="1400" dirty="0" smtClean="0"/>
              <a:t>Offset= -1			% in mesh steps/-1(default, near wall)</a:t>
            </a:r>
          </a:p>
          <a:p>
            <a:r>
              <a:rPr lang="en-US" sz="1400" dirty="0" err="1" smtClean="0"/>
              <a:t>InFieldFile</a:t>
            </a:r>
            <a:r>
              <a:rPr lang="en-US" sz="1400" dirty="0" smtClean="0"/>
              <a:t>= -  		%  -(no output)</a:t>
            </a:r>
          </a:p>
          <a:p>
            <a:endParaRPr lang="en-US" sz="1400" dirty="0" smtClean="0"/>
          </a:p>
          <a:p>
            <a:r>
              <a:rPr lang="en-US" sz="1400" dirty="0" smtClean="0"/>
              <a:t>%%%%%%%%%%% model %%%%%%%%%%%%%%%%%%%%%%%%%</a:t>
            </a:r>
          </a:p>
          <a:p>
            <a:r>
              <a:rPr lang="en-US" sz="1400" dirty="0" err="1" smtClean="0"/>
              <a:t>WakeIntMethod</a:t>
            </a:r>
            <a:r>
              <a:rPr lang="en-US" sz="1400" dirty="0" smtClean="0"/>
              <a:t>= </a:t>
            </a:r>
            <a:r>
              <a:rPr lang="en-US" sz="1400" dirty="0" err="1" smtClean="0"/>
              <a:t>ind</a:t>
            </a:r>
            <a:r>
              <a:rPr lang="en-US" sz="1400" dirty="0" smtClean="0"/>
              <a:t>		% </a:t>
            </a:r>
            <a:r>
              <a:rPr lang="en-US" sz="1400" dirty="0" err="1" smtClean="0"/>
              <a:t>ind</a:t>
            </a:r>
            <a:r>
              <a:rPr lang="en-US" sz="1400" dirty="0" smtClean="0"/>
              <a:t>/</a:t>
            </a:r>
            <a:r>
              <a:rPr lang="en-US" sz="1400" dirty="0" err="1" smtClean="0"/>
              <a:t>dir</a:t>
            </a:r>
            <a:r>
              <a:rPr lang="en-US" sz="1400" dirty="0" smtClean="0"/>
              <a:t>/-</a:t>
            </a:r>
          </a:p>
          <a:p>
            <a:r>
              <a:rPr lang="en-US" sz="1400" dirty="0" smtClean="0"/>
              <a:t>Modes=1 3 5 7 9 11 13 15</a:t>
            </a:r>
          </a:p>
          <a:p>
            <a:r>
              <a:rPr lang="en-US" sz="1400" dirty="0" err="1" smtClean="0"/>
              <a:t>ParticleMotion</a:t>
            </a:r>
            <a:r>
              <a:rPr lang="en-US" sz="1400" dirty="0" smtClean="0"/>
              <a:t>= -		% 1d/2d/3d/-</a:t>
            </a:r>
          </a:p>
          <a:p>
            <a:endParaRPr lang="en-US" sz="1400" dirty="0" smtClean="0"/>
          </a:p>
          <a:p>
            <a:r>
              <a:rPr lang="en-US" sz="1400" dirty="0" smtClean="0"/>
              <a:t>%%%%%%%% mesh %%%%%%%%%%%%%%%%</a:t>
            </a:r>
          </a:p>
          <a:p>
            <a:r>
              <a:rPr lang="en-US" sz="1400" dirty="0" err="1" smtClean="0"/>
              <a:t>MeshLength</a:t>
            </a:r>
            <a:r>
              <a:rPr lang="en-US" sz="1400" dirty="0" smtClean="0"/>
              <a:t>=104		% in mesh steps</a:t>
            </a:r>
          </a:p>
          <a:p>
            <a:r>
              <a:rPr lang="en-US" sz="1400" dirty="0" err="1" smtClean="0"/>
              <a:t>StepY</a:t>
            </a:r>
            <a:r>
              <a:rPr lang="en-US" sz="1400" dirty="0" smtClean="0"/>
              <a:t>=0.0008		% </a:t>
            </a:r>
          </a:p>
          <a:p>
            <a:r>
              <a:rPr lang="en-US" sz="1400" dirty="0" err="1" smtClean="0"/>
              <a:t>StepZ</a:t>
            </a:r>
            <a:r>
              <a:rPr lang="en-US" sz="1400" dirty="0" smtClean="0"/>
              <a:t>=0.0008		% </a:t>
            </a:r>
          </a:p>
          <a:p>
            <a:r>
              <a:rPr lang="en-US" sz="1400" dirty="0" err="1" smtClean="0"/>
              <a:t>NStepsInConductive</a:t>
            </a:r>
            <a:r>
              <a:rPr lang="en-US" sz="1400" dirty="0" smtClean="0"/>
              <a:t>=0		% 0(default)</a:t>
            </a:r>
          </a:p>
          <a:p>
            <a:r>
              <a:rPr lang="en-US" sz="1400" dirty="0" err="1" smtClean="0"/>
              <a:t>TimeSteps</a:t>
            </a:r>
            <a:r>
              <a:rPr lang="en-US" sz="1400" dirty="0" smtClean="0"/>
              <a:t>=0		% 0(default)</a:t>
            </a:r>
          </a:p>
          <a:p>
            <a:endParaRPr lang="en-US" sz="1400" dirty="0" smtClean="0"/>
          </a:p>
          <a:p>
            <a:r>
              <a:rPr lang="en-US" sz="1400" dirty="0" smtClean="0"/>
              <a:t>%%%%%%%%%%% monitors %%%%%%%%%%%%%%%%</a:t>
            </a:r>
          </a:p>
          <a:p>
            <a:r>
              <a:rPr lang="en-US" sz="1400" dirty="0" err="1" smtClean="0"/>
              <a:t>OutPartFile</a:t>
            </a:r>
            <a:r>
              <a:rPr lang="en-US" sz="1400" dirty="0" smtClean="0"/>
              <a:t>= -  	     	% -(no output)</a:t>
            </a:r>
          </a:p>
          <a:p>
            <a:r>
              <a:rPr lang="en-US" sz="1400" dirty="0" err="1" smtClean="0"/>
              <a:t>OutFieldFile</a:t>
            </a:r>
            <a:r>
              <a:rPr lang="en-US" sz="1400" dirty="0" smtClean="0"/>
              <a:t>= -  		% -(no output)</a:t>
            </a:r>
          </a:p>
        </p:txBody>
      </p:sp>
    </p:spTree>
    <p:extLst>
      <p:ext uri="{BB962C8B-B14F-4D97-AF65-F5344CB8AC3E}">
        <p14:creationId xmlns:p14="http://schemas.microsoft.com/office/powerpoint/2010/main" val="23345996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16632"/>
            <a:ext cx="8481120" cy="1143000"/>
          </a:xfrm>
        </p:spPr>
        <p:txBody>
          <a:bodyPr>
            <a:normAutofit/>
          </a:bodyPr>
          <a:lstStyle/>
          <a:p>
            <a:r>
              <a:rPr lang="en-US" dirty="0" smtClean="0"/>
              <a:t>4. Calculate symmetric modes.</a:t>
            </a:r>
            <a:endParaRPr lang="en-US" dirty="0"/>
          </a:p>
        </p:txBody>
      </p:sp>
      <p:sp>
        <p:nvSpPr>
          <p:cNvPr id="3" name="Rectangle 2"/>
          <p:cNvSpPr/>
          <p:nvPr/>
        </p:nvSpPr>
        <p:spPr>
          <a:xfrm>
            <a:off x="611560" y="1124744"/>
            <a:ext cx="7848872" cy="2585323"/>
          </a:xfrm>
          <a:prstGeom prst="rect">
            <a:avLst/>
          </a:prstGeom>
        </p:spPr>
        <p:txBody>
          <a:bodyPr wrap="square">
            <a:spAutoFit/>
          </a:bodyPr>
          <a:lstStyle/>
          <a:p>
            <a:r>
              <a:rPr lang="en-US" dirty="0" smtClean="0"/>
              <a:t>For calculation of symmetric modes in command file the axis boundary condition has to be magnetic.</a:t>
            </a:r>
          </a:p>
          <a:p>
            <a:endParaRPr lang="en-US" dirty="0" smtClean="0"/>
          </a:p>
          <a:p>
            <a:r>
              <a:rPr lang="en-US" dirty="0" err="1" smtClean="0"/>
              <a:t>SymmetryCondition</a:t>
            </a:r>
            <a:r>
              <a:rPr lang="en-US" dirty="0" smtClean="0"/>
              <a:t>= </a:t>
            </a:r>
            <a:r>
              <a:rPr lang="en-US" dirty="0" err="1" smtClean="0"/>
              <a:t>magn</a:t>
            </a:r>
            <a:r>
              <a:rPr lang="en-US" dirty="0" smtClean="0"/>
              <a:t> 	% </a:t>
            </a:r>
            <a:r>
              <a:rPr lang="en-US" dirty="0" err="1" smtClean="0"/>
              <a:t>magn</a:t>
            </a:r>
            <a:r>
              <a:rPr lang="en-US" dirty="0" smtClean="0"/>
              <a:t>/</a:t>
            </a:r>
            <a:r>
              <a:rPr lang="en-US" dirty="0" err="1" smtClean="0"/>
              <a:t>elec</a:t>
            </a:r>
            <a:r>
              <a:rPr lang="en-US" dirty="0" smtClean="0"/>
              <a:t> - boundary condition on axis</a:t>
            </a:r>
          </a:p>
          <a:p>
            <a:endParaRPr lang="en-US" dirty="0" smtClean="0"/>
          </a:p>
          <a:p>
            <a:endParaRPr lang="en-US" dirty="0" smtClean="0"/>
          </a:p>
          <a:p>
            <a:r>
              <a:rPr lang="en-US" dirty="0" smtClean="0"/>
              <a:t>Start „ echo2D_THREADS.exe“. A directory „</a:t>
            </a:r>
            <a:r>
              <a:rPr lang="en-US" dirty="0" err="1" smtClean="0"/>
              <a:t>magn</a:t>
            </a:r>
            <a:r>
              <a:rPr lang="en-US" dirty="0" smtClean="0"/>
              <a:t>“ will be created with modal wakes files in text format.  The format can be found in file itself, see ,</a:t>
            </a:r>
            <a:r>
              <a:rPr lang="en-US" dirty="0" err="1" smtClean="0"/>
              <a:t>f.e</a:t>
            </a:r>
            <a:r>
              <a:rPr lang="en-US" dirty="0" smtClean="0"/>
              <a:t>., „</a:t>
            </a:r>
            <a:r>
              <a:rPr lang="en-US" dirty="0" err="1" smtClean="0"/>
              <a:t>magn</a:t>
            </a:r>
            <a:r>
              <a:rPr lang="en-US" dirty="0" smtClean="0"/>
              <a:t>\wakeL_01.txt“</a:t>
            </a:r>
            <a:endParaRPr lang="en-US" dirty="0"/>
          </a:p>
        </p:txBody>
      </p:sp>
    </p:spTree>
    <p:extLst>
      <p:ext uri="{BB962C8B-B14F-4D97-AF65-F5344CB8AC3E}">
        <p14:creationId xmlns:p14="http://schemas.microsoft.com/office/powerpoint/2010/main" val="23230601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16632"/>
            <a:ext cx="8481120" cy="1143000"/>
          </a:xfrm>
        </p:spPr>
        <p:txBody>
          <a:bodyPr>
            <a:normAutofit fontScale="90000"/>
          </a:bodyPr>
          <a:lstStyle/>
          <a:p>
            <a:r>
              <a:rPr lang="en-US" dirty="0" smtClean="0"/>
              <a:t>5. Post-processing for longitudinal and quadrupole wakes on axis.</a:t>
            </a:r>
            <a:endParaRPr lang="en-US" dirty="0"/>
          </a:p>
        </p:txBody>
      </p:sp>
      <p:sp>
        <p:nvSpPr>
          <p:cNvPr id="3" name="Rectangle 2"/>
          <p:cNvSpPr/>
          <p:nvPr/>
        </p:nvSpPr>
        <p:spPr>
          <a:xfrm>
            <a:off x="611560" y="1772816"/>
            <a:ext cx="7848872" cy="3139321"/>
          </a:xfrm>
          <a:prstGeom prst="rect">
            <a:avLst/>
          </a:prstGeom>
        </p:spPr>
        <p:txBody>
          <a:bodyPr wrap="square">
            <a:spAutoFit/>
          </a:bodyPr>
          <a:lstStyle/>
          <a:p>
            <a:r>
              <a:rPr lang="en-US" dirty="0" smtClean="0"/>
              <a:t>Start </a:t>
            </a:r>
            <a:r>
              <a:rPr lang="en-US" dirty="0" err="1" smtClean="0"/>
              <a:t>Matlab</a:t>
            </a:r>
            <a:r>
              <a:rPr lang="en-US" dirty="0" smtClean="0"/>
              <a:t> and open „\</a:t>
            </a:r>
            <a:r>
              <a:rPr lang="en-US" dirty="0" err="1" smtClean="0"/>
              <a:t>PostProcessor</a:t>
            </a:r>
            <a:r>
              <a:rPr lang="en-US" dirty="0" smtClean="0"/>
              <a:t>\Flat\</a:t>
            </a:r>
            <a:r>
              <a:rPr lang="en-US" dirty="0" err="1" smtClean="0"/>
              <a:t>PP_Wcc.m</a:t>
            </a:r>
            <a:r>
              <a:rPr lang="en-US" dirty="0" smtClean="0"/>
              <a:t> “.</a:t>
            </a:r>
          </a:p>
          <a:p>
            <a:r>
              <a:rPr lang="en-US" dirty="0" smtClean="0"/>
              <a:t>Adjust „Nm“,  „</a:t>
            </a:r>
            <a:r>
              <a:rPr lang="en-US" dirty="0" err="1" smtClean="0"/>
              <a:t>dir_in</a:t>
            </a:r>
            <a:r>
              <a:rPr lang="en-US" dirty="0" smtClean="0"/>
              <a:t>“  and  „</a:t>
            </a:r>
            <a:r>
              <a:rPr lang="en-US" dirty="0" err="1" smtClean="0"/>
              <a:t>dir_out</a:t>
            </a:r>
            <a:r>
              <a:rPr lang="en-US" dirty="0" smtClean="0"/>
              <a:t>“.</a:t>
            </a:r>
          </a:p>
          <a:p>
            <a:r>
              <a:rPr lang="en-US" dirty="0" smtClean="0"/>
              <a:t>Run this </a:t>
            </a:r>
            <a:r>
              <a:rPr lang="en-US" dirty="0" err="1" smtClean="0"/>
              <a:t>matlab</a:t>
            </a:r>
            <a:r>
              <a:rPr lang="en-US" dirty="0" smtClean="0"/>
              <a:t> file to create file „Wcc_odd.txt“ with modal wakes.</a:t>
            </a:r>
          </a:p>
          <a:p>
            <a:endParaRPr lang="en-US" dirty="0" smtClean="0"/>
          </a:p>
          <a:p>
            <a:endParaRPr lang="en-US" dirty="0" smtClean="0"/>
          </a:p>
          <a:p>
            <a:r>
              <a:rPr lang="en-US" dirty="0" err="1" smtClean="0"/>
              <a:t>Matlab</a:t>
            </a:r>
            <a:r>
              <a:rPr lang="en-US" dirty="0" smtClean="0"/>
              <a:t> script „</a:t>
            </a:r>
            <a:r>
              <a:rPr lang="en-US" dirty="0" err="1" smtClean="0"/>
              <a:t>PP_Wcc.m</a:t>
            </a:r>
            <a:r>
              <a:rPr lang="en-US" dirty="0" smtClean="0"/>
              <a:t>“ creates two plots shown in the next slide.</a:t>
            </a:r>
          </a:p>
          <a:p>
            <a:endParaRPr lang="en-US" dirty="0" smtClean="0"/>
          </a:p>
          <a:p>
            <a:r>
              <a:rPr lang="en-US" dirty="0" smtClean="0"/>
              <a:t>The upper plot shows the modal wakes as they are calculated near to the boundary. The bottom plot shows the modal fictions </a:t>
            </a:r>
            <a:r>
              <a:rPr lang="en-US" dirty="0" err="1" smtClean="0"/>
              <a:t>Wcc</a:t>
            </a:r>
            <a:r>
              <a:rPr lang="en-US" dirty="0" smtClean="0"/>
              <a:t> as defined in the paper and which will be used to calculate wake for arbitrary offsets. The data from bottom plot are saved in file „Wcc_odd.txt“ .</a:t>
            </a:r>
            <a:endParaRPr lang="en-US" dirty="0"/>
          </a:p>
        </p:txBody>
      </p:sp>
    </p:spTree>
    <p:extLst>
      <p:ext uri="{BB962C8B-B14F-4D97-AF65-F5344CB8AC3E}">
        <p14:creationId xmlns:p14="http://schemas.microsoft.com/office/powerpoint/2010/main" val="32652186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8301" y="0"/>
            <a:ext cx="8227397" cy="6858000"/>
          </a:xfrm>
          <a:prstGeom prst="rect">
            <a:avLst/>
          </a:prstGeom>
        </p:spPr>
      </p:pic>
    </p:spTree>
    <p:extLst>
      <p:ext uri="{BB962C8B-B14F-4D97-AF65-F5344CB8AC3E}">
        <p14:creationId xmlns:p14="http://schemas.microsoft.com/office/powerpoint/2010/main" val="23345996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95536" y="203155"/>
            <a:ext cx="7848872" cy="3693319"/>
          </a:xfrm>
          <a:prstGeom prst="rect">
            <a:avLst/>
          </a:prstGeom>
        </p:spPr>
        <p:txBody>
          <a:bodyPr wrap="square">
            <a:spAutoFit/>
          </a:bodyPr>
          <a:lstStyle/>
          <a:p>
            <a:r>
              <a:rPr lang="en-US" dirty="0" smtClean="0"/>
              <a:t>With functions from „Wcc_odd.txt“ we can calculate longitudinal and quadrupole wakes on axis only .</a:t>
            </a:r>
          </a:p>
          <a:p>
            <a:endParaRPr lang="en-US" dirty="0" smtClean="0"/>
          </a:p>
          <a:p>
            <a:r>
              <a:rPr lang="en-US" dirty="0" smtClean="0"/>
              <a:t>Start </a:t>
            </a:r>
            <a:r>
              <a:rPr lang="en-US" dirty="0" err="1" smtClean="0"/>
              <a:t>Matlab</a:t>
            </a:r>
            <a:r>
              <a:rPr lang="en-US" dirty="0" smtClean="0"/>
              <a:t> and open „\</a:t>
            </a:r>
            <a:r>
              <a:rPr lang="en-US" dirty="0" err="1" smtClean="0"/>
              <a:t>PostProcessor</a:t>
            </a:r>
            <a:r>
              <a:rPr lang="en-US" dirty="0" smtClean="0"/>
              <a:t>\Flat\</a:t>
            </a:r>
            <a:r>
              <a:rPr lang="en-US" dirty="0" err="1" smtClean="0"/>
              <a:t>PP_WakeLQ.m</a:t>
            </a:r>
            <a:r>
              <a:rPr lang="en-US" dirty="0" smtClean="0"/>
              <a:t> “.</a:t>
            </a:r>
          </a:p>
          <a:p>
            <a:r>
              <a:rPr lang="en-US" dirty="0" smtClean="0"/>
              <a:t>Adjust „</a:t>
            </a:r>
            <a:r>
              <a:rPr lang="en-US" dirty="0" err="1" smtClean="0"/>
              <a:t>Ncc</a:t>
            </a:r>
            <a:r>
              <a:rPr lang="en-US" dirty="0" smtClean="0"/>
              <a:t>“,  „</a:t>
            </a:r>
            <a:r>
              <a:rPr lang="en-US" dirty="0" err="1" smtClean="0"/>
              <a:t>dir_in</a:t>
            </a:r>
            <a:r>
              <a:rPr lang="en-US" dirty="0" smtClean="0"/>
              <a:t>“  and  „</a:t>
            </a:r>
            <a:r>
              <a:rPr lang="en-US" dirty="0" err="1" smtClean="0"/>
              <a:t>dir_out</a:t>
            </a:r>
            <a:r>
              <a:rPr lang="en-US" dirty="0" smtClean="0"/>
              <a:t>“.</a:t>
            </a:r>
          </a:p>
          <a:p>
            <a:r>
              <a:rPr lang="en-US" dirty="0" smtClean="0"/>
              <a:t>Run this </a:t>
            </a:r>
            <a:r>
              <a:rPr lang="en-US" dirty="0" err="1" smtClean="0"/>
              <a:t>matlab</a:t>
            </a:r>
            <a:r>
              <a:rPr lang="en-US" dirty="0" smtClean="0"/>
              <a:t> file to create file „WakeLQ.txt“ with longitudinal and quadrupole wakes on axis. The format can be found in file „WakeLQ.txt“  itself.</a:t>
            </a:r>
          </a:p>
          <a:p>
            <a:endParaRPr lang="en-US" dirty="0" smtClean="0"/>
          </a:p>
          <a:p>
            <a:r>
              <a:rPr lang="en-US" dirty="0" err="1" smtClean="0"/>
              <a:t>Matlab</a:t>
            </a:r>
            <a:r>
              <a:rPr lang="en-US" dirty="0" smtClean="0"/>
              <a:t> script „</a:t>
            </a:r>
            <a:r>
              <a:rPr lang="en-US" dirty="0" err="1" smtClean="0"/>
              <a:t>PP_WakeLQ.m</a:t>
            </a:r>
            <a:r>
              <a:rPr lang="en-US" dirty="0" smtClean="0"/>
              <a:t> “ creates 4 plots shown in the next slide.</a:t>
            </a:r>
          </a:p>
          <a:p>
            <a:endParaRPr lang="en-US" dirty="0" smtClean="0"/>
          </a:p>
          <a:p>
            <a:r>
              <a:rPr lang="en-US" dirty="0" smtClean="0"/>
              <a:t>The longitudinal and </a:t>
            </a:r>
            <a:r>
              <a:rPr lang="en-US" dirty="0" err="1" smtClean="0"/>
              <a:t>quadropole</a:t>
            </a:r>
            <a:r>
              <a:rPr lang="en-US" dirty="0" smtClean="0"/>
              <a:t> wakes are on the right side. 3D plot at the left side are for estimation of the number of modes. It can be seen that we need on axis only a couple of modes in this example.</a:t>
            </a:r>
          </a:p>
        </p:txBody>
      </p:sp>
    </p:spTree>
    <p:extLst>
      <p:ext uri="{BB962C8B-B14F-4D97-AF65-F5344CB8AC3E}">
        <p14:creationId xmlns:p14="http://schemas.microsoft.com/office/powerpoint/2010/main" val="26680879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65450"/>
            <a:ext cx="9144000" cy="5527100"/>
          </a:xfrm>
          <a:prstGeom prst="rect">
            <a:avLst/>
          </a:prstGeom>
        </p:spPr>
      </p:pic>
    </p:spTree>
    <p:extLst>
      <p:ext uri="{BB962C8B-B14F-4D97-AF65-F5344CB8AC3E}">
        <p14:creationId xmlns:p14="http://schemas.microsoft.com/office/powerpoint/2010/main" val="25278559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16632"/>
            <a:ext cx="8481120" cy="1143000"/>
          </a:xfrm>
        </p:spPr>
        <p:txBody>
          <a:bodyPr>
            <a:normAutofit/>
          </a:bodyPr>
          <a:lstStyle/>
          <a:p>
            <a:r>
              <a:rPr lang="en-US" dirty="0" smtClean="0"/>
              <a:t>6. Calculate antisymmetric modes.</a:t>
            </a:r>
            <a:endParaRPr lang="en-US" dirty="0"/>
          </a:p>
        </p:txBody>
      </p:sp>
      <p:sp>
        <p:nvSpPr>
          <p:cNvPr id="3" name="Rectangle 2"/>
          <p:cNvSpPr/>
          <p:nvPr/>
        </p:nvSpPr>
        <p:spPr>
          <a:xfrm>
            <a:off x="611560" y="1124744"/>
            <a:ext cx="7848872" cy="2585323"/>
          </a:xfrm>
          <a:prstGeom prst="rect">
            <a:avLst/>
          </a:prstGeom>
        </p:spPr>
        <p:txBody>
          <a:bodyPr wrap="square">
            <a:spAutoFit/>
          </a:bodyPr>
          <a:lstStyle/>
          <a:p>
            <a:r>
              <a:rPr lang="en-US" dirty="0" smtClean="0"/>
              <a:t>For calculation of antisymmetric modes in command file the axis boundary condition has to be electric.</a:t>
            </a:r>
          </a:p>
          <a:p>
            <a:endParaRPr lang="en-US" dirty="0" smtClean="0"/>
          </a:p>
          <a:p>
            <a:r>
              <a:rPr lang="en-US" dirty="0" err="1" smtClean="0"/>
              <a:t>SymmetryCondition</a:t>
            </a:r>
            <a:r>
              <a:rPr lang="en-US" dirty="0" smtClean="0"/>
              <a:t>= </a:t>
            </a:r>
            <a:r>
              <a:rPr lang="en-US" dirty="0" err="1" smtClean="0"/>
              <a:t>elec</a:t>
            </a:r>
            <a:r>
              <a:rPr lang="en-US" dirty="0" smtClean="0"/>
              <a:t> 	% </a:t>
            </a:r>
            <a:r>
              <a:rPr lang="en-US" dirty="0" err="1" smtClean="0"/>
              <a:t>magn</a:t>
            </a:r>
            <a:r>
              <a:rPr lang="en-US" dirty="0" smtClean="0"/>
              <a:t>/</a:t>
            </a:r>
            <a:r>
              <a:rPr lang="en-US" dirty="0" err="1" smtClean="0"/>
              <a:t>elec</a:t>
            </a:r>
            <a:r>
              <a:rPr lang="en-US" dirty="0" smtClean="0"/>
              <a:t> - boundary condition on axis</a:t>
            </a:r>
          </a:p>
          <a:p>
            <a:endParaRPr lang="en-US" dirty="0" smtClean="0"/>
          </a:p>
          <a:p>
            <a:endParaRPr lang="en-US" dirty="0" smtClean="0"/>
          </a:p>
          <a:p>
            <a:r>
              <a:rPr lang="en-US" dirty="0" smtClean="0"/>
              <a:t>Start „ echo2D_THREADS.exe“. A directory „</a:t>
            </a:r>
            <a:r>
              <a:rPr lang="en-US" dirty="0" err="1" smtClean="0"/>
              <a:t>elec</a:t>
            </a:r>
            <a:r>
              <a:rPr lang="en-US" dirty="0" smtClean="0"/>
              <a:t>“ will be created with modal wakes files in text format.  The format can be found in file itself, see ,</a:t>
            </a:r>
            <a:r>
              <a:rPr lang="en-US" dirty="0" err="1" smtClean="0"/>
              <a:t>f.e</a:t>
            </a:r>
            <a:r>
              <a:rPr lang="en-US" dirty="0" smtClean="0"/>
              <a:t>., „</a:t>
            </a:r>
            <a:r>
              <a:rPr lang="en-US" dirty="0" err="1" smtClean="0"/>
              <a:t>elec</a:t>
            </a:r>
            <a:r>
              <a:rPr lang="en-US" dirty="0" smtClean="0"/>
              <a:t>\wakeL_01.txt“</a:t>
            </a:r>
            <a:endParaRPr lang="en-US" dirty="0"/>
          </a:p>
        </p:txBody>
      </p:sp>
    </p:spTree>
    <p:extLst>
      <p:ext uri="{BB962C8B-B14F-4D97-AF65-F5344CB8AC3E}">
        <p14:creationId xmlns:p14="http://schemas.microsoft.com/office/powerpoint/2010/main" val="35731608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16632"/>
            <a:ext cx="8481120" cy="1143000"/>
          </a:xfrm>
        </p:spPr>
        <p:txBody>
          <a:bodyPr>
            <a:normAutofit fontScale="90000"/>
          </a:bodyPr>
          <a:lstStyle/>
          <a:p>
            <a:r>
              <a:rPr lang="en-US" dirty="0" smtClean="0"/>
              <a:t>7. Post-processing for dipole wake on axis.</a:t>
            </a:r>
            <a:endParaRPr lang="en-US" dirty="0"/>
          </a:p>
        </p:txBody>
      </p:sp>
      <p:sp>
        <p:nvSpPr>
          <p:cNvPr id="3" name="Rectangle 2"/>
          <p:cNvSpPr/>
          <p:nvPr/>
        </p:nvSpPr>
        <p:spPr>
          <a:xfrm>
            <a:off x="611560" y="1772816"/>
            <a:ext cx="7848872" cy="3139321"/>
          </a:xfrm>
          <a:prstGeom prst="rect">
            <a:avLst/>
          </a:prstGeom>
        </p:spPr>
        <p:txBody>
          <a:bodyPr wrap="square">
            <a:spAutoFit/>
          </a:bodyPr>
          <a:lstStyle/>
          <a:p>
            <a:r>
              <a:rPr lang="en-US" dirty="0" smtClean="0"/>
              <a:t>Start </a:t>
            </a:r>
            <a:r>
              <a:rPr lang="en-US" dirty="0" err="1" smtClean="0"/>
              <a:t>Matlab</a:t>
            </a:r>
            <a:r>
              <a:rPr lang="en-US" dirty="0" smtClean="0"/>
              <a:t> and open „\</a:t>
            </a:r>
            <a:r>
              <a:rPr lang="en-US" dirty="0" err="1" smtClean="0"/>
              <a:t>PostProcessor</a:t>
            </a:r>
            <a:r>
              <a:rPr lang="en-US" dirty="0" smtClean="0"/>
              <a:t>\Flat\</a:t>
            </a:r>
            <a:r>
              <a:rPr lang="en-US" dirty="0" err="1" smtClean="0"/>
              <a:t>PP_Wss.m</a:t>
            </a:r>
            <a:r>
              <a:rPr lang="en-US" dirty="0" smtClean="0"/>
              <a:t> “.</a:t>
            </a:r>
          </a:p>
          <a:p>
            <a:r>
              <a:rPr lang="en-US" dirty="0" smtClean="0"/>
              <a:t>Adjust „Nm“,  „</a:t>
            </a:r>
            <a:r>
              <a:rPr lang="en-US" dirty="0" err="1" smtClean="0"/>
              <a:t>dir_in</a:t>
            </a:r>
            <a:r>
              <a:rPr lang="en-US" dirty="0" smtClean="0"/>
              <a:t>“  and  „</a:t>
            </a:r>
            <a:r>
              <a:rPr lang="en-US" dirty="0" err="1" smtClean="0"/>
              <a:t>dir_out</a:t>
            </a:r>
            <a:r>
              <a:rPr lang="en-US" dirty="0" smtClean="0"/>
              <a:t>“.</a:t>
            </a:r>
          </a:p>
          <a:p>
            <a:r>
              <a:rPr lang="en-US" dirty="0" smtClean="0"/>
              <a:t>Run this </a:t>
            </a:r>
            <a:r>
              <a:rPr lang="en-US" dirty="0" err="1" smtClean="0"/>
              <a:t>matlab</a:t>
            </a:r>
            <a:r>
              <a:rPr lang="en-US" dirty="0" smtClean="0"/>
              <a:t> file to create a file „Wss_odd.txt“ with modal wakes.</a:t>
            </a:r>
          </a:p>
          <a:p>
            <a:endParaRPr lang="en-US" dirty="0" smtClean="0"/>
          </a:p>
          <a:p>
            <a:endParaRPr lang="en-US" dirty="0" smtClean="0"/>
          </a:p>
          <a:p>
            <a:r>
              <a:rPr lang="en-US" dirty="0" err="1" smtClean="0"/>
              <a:t>Matlab</a:t>
            </a:r>
            <a:r>
              <a:rPr lang="en-US" dirty="0" smtClean="0"/>
              <a:t> script „</a:t>
            </a:r>
            <a:r>
              <a:rPr lang="en-US" dirty="0" err="1" smtClean="0"/>
              <a:t>PP_Wss.m</a:t>
            </a:r>
            <a:r>
              <a:rPr lang="en-US" dirty="0" smtClean="0"/>
              <a:t>“ creates two plots shown in the next slide.</a:t>
            </a:r>
          </a:p>
          <a:p>
            <a:endParaRPr lang="en-US" dirty="0" smtClean="0"/>
          </a:p>
          <a:p>
            <a:r>
              <a:rPr lang="en-US" dirty="0" smtClean="0"/>
              <a:t>Upper plot shows modal wakes as they are calculated near boundary. The bottom plot is modal fictions </a:t>
            </a:r>
            <a:r>
              <a:rPr lang="en-US" dirty="0" err="1" smtClean="0"/>
              <a:t>Wss</a:t>
            </a:r>
            <a:r>
              <a:rPr lang="en-US" dirty="0" smtClean="0"/>
              <a:t> as defined in the paper and which will be used to calculate wake for arbitrary offsets. The data from bottom plot are saved in file „Wss_odd.txt“ .</a:t>
            </a:r>
            <a:endParaRPr lang="en-US" dirty="0"/>
          </a:p>
        </p:txBody>
      </p:sp>
    </p:spTree>
    <p:extLst>
      <p:ext uri="{BB962C8B-B14F-4D97-AF65-F5344CB8AC3E}">
        <p14:creationId xmlns:p14="http://schemas.microsoft.com/office/powerpoint/2010/main" val="37457697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0552" y="224774"/>
            <a:ext cx="8542895" cy="6408451"/>
          </a:xfrm>
          <a:prstGeom prst="rect">
            <a:avLst/>
          </a:prstGeom>
        </p:spPr>
      </p:pic>
    </p:spTree>
    <p:extLst>
      <p:ext uri="{BB962C8B-B14F-4D97-AF65-F5344CB8AC3E}">
        <p14:creationId xmlns:p14="http://schemas.microsoft.com/office/powerpoint/2010/main" val="17045747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95536" y="203155"/>
            <a:ext cx="7848872" cy="3693319"/>
          </a:xfrm>
          <a:prstGeom prst="rect">
            <a:avLst/>
          </a:prstGeom>
        </p:spPr>
        <p:txBody>
          <a:bodyPr wrap="square">
            <a:spAutoFit/>
          </a:bodyPr>
          <a:lstStyle/>
          <a:p>
            <a:r>
              <a:rPr lang="en-US" dirty="0" smtClean="0"/>
              <a:t>With functions from „Wcc_odd.txt“ and </a:t>
            </a:r>
            <a:r>
              <a:rPr lang="en-US" smtClean="0"/>
              <a:t>„</a:t>
            </a:r>
            <a:r>
              <a:rPr lang="en-US" smtClean="0"/>
              <a:t>Wss_odd.txt</a:t>
            </a:r>
            <a:r>
              <a:rPr lang="en-US" dirty="0" smtClean="0"/>
              <a:t>“  we can calculate longitudinal, </a:t>
            </a:r>
            <a:r>
              <a:rPr lang="en-US" b="1" dirty="0" smtClean="0"/>
              <a:t>dipole</a:t>
            </a:r>
            <a:r>
              <a:rPr lang="en-US" dirty="0" smtClean="0"/>
              <a:t> and quadrupole wakes on axis .</a:t>
            </a:r>
          </a:p>
          <a:p>
            <a:endParaRPr lang="en-US" dirty="0" smtClean="0"/>
          </a:p>
          <a:p>
            <a:r>
              <a:rPr lang="en-US" dirty="0" smtClean="0"/>
              <a:t>Start </a:t>
            </a:r>
            <a:r>
              <a:rPr lang="en-US" dirty="0" err="1" smtClean="0"/>
              <a:t>Matlab</a:t>
            </a:r>
            <a:r>
              <a:rPr lang="en-US" dirty="0" smtClean="0"/>
              <a:t> and open „\</a:t>
            </a:r>
            <a:r>
              <a:rPr lang="en-US" dirty="0" err="1" smtClean="0"/>
              <a:t>PostProcessor</a:t>
            </a:r>
            <a:r>
              <a:rPr lang="en-US" dirty="0" smtClean="0"/>
              <a:t>\Flat\</a:t>
            </a:r>
            <a:r>
              <a:rPr lang="en-US" dirty="0" err="1" smtClean="0"/>
              <a:t>PP_WakeLQD.m</a:t>
            </a:r>
            <a:r>
              <a:rPr lang="en-US" dirty="0" smtClean="0"/>
              <a:t> “.</a:t>
            </a:r>
          </a:p>
          <a:p>
            <a:r>
              <a:rPr lang="en-US" dirty="0" smtClean="0"/>
              <a:t>Adjust „</a:t>
            </a:r>
            <a:r>
              <a:rPr lang="en-US" dirty="0" err="1" smtClean="0"/>
              <a:t>Ncc</a:t>
            </a:r>
            <a:r>
              <a:rPr lang="en-US" dirty="0" smtClean="0"/>
              <a:t>“,  „</a:t>
            </a:r>
            <a:r>
              <a:rPr lang="en-US" dirty="0" err="1" smtClean="0"/>
              <a:t>dir_in</a:t>
            </a:r>
            <a:r>
              <a:rPr lang="en-US" dirty="0" smtClean="0"/>
              <a:t>“  and  „</a:t>
            </a:r>
            <a:r>
              <a:rPr lang="en-US" dirty="0" err="1" smtClean="0"/>
              <a:t>dir_out</a:t>
            </a:r>
            <a:r>
              <a:rPr lang="en-US" dirty="0" smtClean="0"/>
              <a:t>“.</a:t>
            </a:r>
          </a:p>
          <a:p>
            <a:r>
              <a:rPr lang="en-US" dirty="0" smtClean="0"/>
              <a:t>Run this </a:t>
            </a:r>
            <a:r>
              <a:rPr lang="en-US" dirty="0" err="1" smtClean="0"/>
              <a:t>matlab</a:t>
            </a:r>
            <a:r>
              <a:rPr lang="en-US" dirty="0" smtClean="0"/>
              <a:t> file to create file „WakeLQD.txt“ with longitudinal, dipole and quadrupole wakes on axis. The format can be found in file „WakeLQD.txt“  itself.</a:t>
            </a:r>
          </a:p>
          <a:p>
            <a:endParaRPr lang="en-US" dirty="0" smtClean="0"/>
          </a:p>
          <a:p>
            <a:r>
              <a:rPr lang="en-US" dirty="0" err="1" smtClean="0"/>
              <a:t>Matlab</a:t>
            </a:r>
            <a:r>
              <a:rPr lang="en-US" dirty="0" smtClean="0"/>
              <a:t> script „</a:t>
            </a:r>
            <a:r>
              <a:rPr lang="en-US" dirty="0" err="1" smtClean="0"/>
              <a:t>PP_WakeLQD.m</a:t>
            </a:r>
            <a:r>
              <a:rPr lang="en-US" dirty="0" smtClean="0"/>
              <a:t> “ creates 6 plots shown in the next slide.</a:t>
            </a:r>
          </a:p>
          <a:p>
            <a:endParaRPr lang="en-US" dirty="0" smtClean="0"/>
          </a:p>
          <a:p>
            <a:r>
              <a:rPr lang="en-US" dirty="0" smtClean="0"/>
              <a:t>The longitudinal, </a:t>
            </a:r>
            <a:r>
              <a:rPr lang="en-US" dirty="0" err="1" smtClean="0"/>
              <a:t>quadropole</a:t>
            </a:r>
            <a:r>
              <a:rPr lang="en-US" dirty="0" smtClean="0"/>
              <a:t>  and </a:t>
            </a:r>
            <a:r>
              <a:rPr lang="en-US" b="1" dirty="0" smtClean="0"/>
              <a:t>dipole</a:t>
            </a:r>
            <a:r>
              <a:rPr lang="en-US" dirty="0" smtClean="0"/>
              <a:t> wakes are on the right side. 3D plot at the left side are for estimation of the number of modes. It can be seen that we need only a couple of modes in this example (on axis!).</a:t>
            </a:r>
          </a:p>
        </p:txBody>
      </p:sp>
    </p:spTree>
    <p:extLst>
      <p:ext uri="{BB962C8B-B14F-4D97-AF65-F5344CB8AC3E}">
        <p14:creationId xmlns:p14="http://schemas.microsoft.com/office/powerpoint/2010/main" val="12498595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84891"/>
            <a:ext cx="9144000" cy="6688218"/>
          </a:xfrm>
          <a:prstGeom prst="rect">
            <a:avLst/>
          </a:prstGeom>
        </p:spPr>
      </p:pic>
    </p:spTree>
    <p:extLst>
      <p:ext uri="{BB962C8B-B14F-4D97-AF65-F5344CB8AC3E}">
        <p14:creationId xmlns:p14="http://schemas.microsoft.com/office/powerpoint/2010/main" val="36687814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16632"/>
            <a:ext cx="8481120" cy="1143000"/>
          </a:xfrm>
        </p:spPr>
        <p:txBody>
          <a:bodyPr>
            <a:normAutofit fontScale="90000"/>
          </a:bodyPr>
          <a:lstStyle/>
          <a:p>
            <a:r>
              <a:rPr lang="en-US" dirty="0" smtClean="0"/>
              <a:t>8. Post-processing for longitudinal and </a:t>
            </a:r>
            <a:r>
              <a:rPr lang="en-US" dirty="0" err="1" smtClean="0"/>
              <a:t>lransverse</a:t>
            </a:r>
            <a:r>
              <a:rPr lang="en-US" dirty="0" smtClean="0"/>
              <a:t> wakes for arbitrary offsets.</a:t>
            </a:r>
            <a:endParaRPr lang="en-US" dirty="0"/>
          </a:p>
        </p:txBody>
      </p:sp>
      <p:sp>
        <p:nvSpPr>
          <p:cNvPr id="4" name="Rectangle 3"/>
          <p:cNvSpPr/>
          <p:nvPr/>
        </p:nvSpPr>
        <p:spPr>
          <a:xfrm>
            <a:off x="395536" y="1700808"/>
            <a:ext cx="7848872" cy="3693319"/>
          </a:xfrm>
          <a:prstGeom prst="rect">
            <a:avLst/>
          </a:prstGeom>
        </p:spPr>
        <p:txBody>
          <a:bodyPr wrap="square">
            <a:spAutoFit/>
          </a:bodyPr>
          <a:lstStyle/>
          <a:p>
            <a:r>
              <a:rPr lang="en-US" dirty="0" smtClean="0"/>
              <a:t>With functions from „Wcc_odd.txt“ and </a:t>
            </a:r>
            <a:r>
              <a:rPr lang="en-US" smtClean="0"/>
              <a:t>„Wss_odd.txt</a:t>
            </a:r>
            <a:r>
              <a:rPr lang="en-US" dirty="0" smtClean="0"/>
              <a:t>“  we can calculate longitudinal and transverse (y-component) wakes  for arbitrary offsets in y0,y .</a:t>
            </a:r>
          </a:p>
          <a:p>
            <a:endParaRPr lang="en-US" dirty="0" smtClean="0"/>
          </a:p>
          <a:p>
            <a:r>
              <a:rPr lang="en-US" dirty="0" smtClean="0"/>
              <a:t>Start </a:t>
            </a:r>
            <a:r>
              <a:rPr lang="en-US" dirty="0" err="1" smtClean="0"/>
              <a:t>Matlab</a:t>
            </a:r>
            <a:r>
              <a:rPr lang="en-US" dirty="0" smtClean="0"/>
              <a:t> and open „\</a:t>
            </a:r>
            <a:r>
              <a:rPr lang="en-US" dirty="0" err="1" smtClean="0"/>
              <a:t>PostProcessor</a:t>
            </a:r>
            <a:r>
              <a:rPr lang="en-US" dirty="0" smtClean="0"/>
              <a:t>\Flat\</a:t>
            </a:r>
            <a:r>
              <a:rPr lang="en-US" dirty="0" err="1" smtClean="0"/>
              <a:t>PP_WakeZY.m</a:t>
            </a:r>
            <a:r>
              <a:rPr lang="en-US" dirty="0" smtClean="0"/>
              <a:t> “.</a:t>
            </a:r>
          </a:p>
          <a:p>
            <a:r>
              <a:rPr lang="en-US" dirty="0" smtClean="0"/>
              <a:t>Adjust “y”, “y0”, „</a:t>
            </a:r>
            <a:r>
              <a:rPr lang="en-US" dirty="0" err="1" smtClean="0"/>
              <a:t>Ncc</a:t>
            </a:r>
            <a:r>
              <a:rPr lang="en-US" dirty="0" smtClean="0"/>
              <a:t>“,  „</a:t>
            </a:r>
            <a:r>
              <a:rPr lang="en-US" dirty="0" err="1" smtClean="0"/>
              <a:t>dir_in</a:t>
            </a:r>
            <a:r>
              <a:rPr lang="en-US" dirty="0" smtClean="0"/>
              <a:t>“  and  „</a:t>
            </a:r>
            <a:r>
              <a:rPr lang="en-US" dirty="0" err="1" smtClean="0"/>
              <a:t>dir_out</a:t>
            </a:r>
            <a:r>
              <a:rPr lang="en-US" dirty="0" smtClean="0"/>
              <a:t>“.</a:t>
            </a:r>
          </a:p>
          <a:p>
            <a:r>
              <a:rPr lang="en-US" dirty="0" smtClean="0"/>
              <a:t>Run this </a:t>
            </a:r>
            <a:r>
              <a:rPr lang="en-US" dirty="0" err="1" smtClean="0"/>
              <a:t>matlab</a:t>
            </a:r>
            <a:r>
              <a:rPr lang="en-US" dirty="0" smtClean="0"/>
              <a:t> file to create file „WakeZY.txt“ with longitudinal and transverse wake for the offsets y,y0. The format can be found in file „WakeZY.txt“  itself.</a:t>
            </a:r>
          </a:p>
          <a:p>
            <a:endParaRPr lang="en-US" dirty="0" smtClean="0"/>
          </a:p>
          <a:p>
            <a:r>
              <a:rPr lang="en-US" dirty="0" err="1" smtClean="0"/>
              <a:t>Matlab</a:t>
            </a:r>
            <a:r>
              <a:rPr lang="en-US" dirty="0" smtClean="0"/>
              <a:t> script „</a:t>
            </a:r>
            <a:r>
              <a:rPr lang="en-US" dirty="0" err="1" smtClean="0"/>
              <a:t>PP_WakeZY.m</a:t>
            </a:r>
            <a:r>
              <a:rPr lang="en-US" dirty="0" smtClean="0"/>
              <a:t> “ creates 4 plots shown in the next slide.</a:t>
            </a:r>
          </a:p>
          <a:p>
            <a:endParaRPr lang="en-US" dirty="0" smtClean="0"/>
          </a:p>
          <a:p>
            <a:r>
              <a:rPr lang="en-US" dirty="0" smtClean="0"/>
              <a:t>The longitudinal and transverse wakes are on the right side. 3D plot at the left side are for estimation of the number of modes. It can be seen that we need more than 8 modes in this example (near the boundary!).</a:t>
            </a:r>
          </a:p>
        </p:txBody>
      </p:sp>
    </p:spTree>
    <p:extLst>
      <p:ext uri="{BB962C8B-B14F-4D97-AF65-F5344CB8AC3E}">
        <p14:creationId xmlns:p14="http://schemas.microsoft.com/office/powerpoint/2010/main" val="13892226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3844"/>
            <a:ext cx="9144000" cy="6810311"/>
          </a:xfrm>
          <a:prstGeom prst="rect">
            <a:avLst/>
          </a:prstGeom>
        </p:spPr>
      </p:pic>
    </p:spTree>
    <p:extLst>
      <p:ext uri="{BB962C8B-B14F-4D97-AF65-F5344CB8AC3E}">
        <p14:creationId xmlns:p14="http://schemas.microsoft.com/office/powerpoint/2010/main" val="1777758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16632"/>
            <a:ext cx="8481120" cy="1143000"/>
          </a:xfrm>
        </p:spPr>
        <p:txBody>
          <a:bodyPr>
            <a:normAutofit/>
          </a:bodyPr>
          <a:lstStyle/>
          <a:p>
            <a:r>
              <a:rPr lang="en-US" dirty="0" smtClean="0"/>
              <a:t>8.Accuracy Check.</a:t>
            </a:r>
            <a:endParaRPr lang="en-US" dirty="0"/>
          </a:p>
        </p:txBody>
      </p:sp>
      <p:sp>
        <p:nvSpPr>
          <p:cNvPr id="4" name="Rectangle 3"/>
          <p:cNvSpPr/>
          <p:nvPr/>
        </p:nvSpPr>
        <p:spPr>
          <a:xfrm>
            <a:off x="395536" y="1331476"/>
            <a:ext cx="7848872" cy="369332"/>
          </a:xfrm>
          <a:prstGeom prst="rect">
            <a:avLst/>
          </a:prstGeom>
        </p:spPr>
        <p:txBody>
          <a:bodyPr wrap="square">
            <a:spAutoFit/>
          </a:bodyPr>
          <a:lstStyle/>
          <a:p>
            <a:r>
              <a:rPr lang="en-US" dirty="0" smtClean="0"/>
              <a:t>Double longitudinal mesh to check the accuracy (5/10 points on bunch sigma).</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5576" y="1844824"/>
            <a:ext cx="8172400" cy="4406094"/>
          </a:xfrm>
          <a:prstGeom prst="rect">
            <a:avLst/>
          </a:prstGeom>
        </p:spPr>
      </p:pic>
      <mc:AlternateContent xmlns:mc="http://schemas.openxmlformats.org/markup-compatibility/2006" xmlns:a14="http://schemas.microsoft.com/office/drawing/2010/main">
        <mc:Choice Requires="a14">
          <p:sp>
            <p:nvSpPr>
              <p:cNvPr id="6" name="TextBox 5"/>
              <p:cNvSpPr txBox="1"/>
              <p:nvPr/>
            </p:nvSpPr>
            <p:spPr>
              <a:xfrm>
                <a:off x="179512" y="1844824"/>
                <a:ext cx="1389098" cy="394210"/>
              </a:xfrm>
              <a:prstGeom prst="rect">
                <a:avLst/>
              </a:prstGeom>
              <a:noFill/>
            </p:spPr>
            <p:txBody>
              <a:bodyPr wrap="none" rtlCol="0">
                <a:spAutoFit/>
              </a:bodyPr>
              <a:lstStyle/>
              <a:p>
                <a14:m>
                  <m:oMath xmlns:m="http://schemas.openxmlformats.org/officeDocument/2006/math">
                    <m:sSub>
                      <m:sSubPr>
                        <m:ctrlPr>
                          <a:rPr lang="de-DE" b="0" i="1" smtClean="0">
                            <a:latin typeface="Cambria Math"/>
                          </a:rPr>
                        </m:ctrlPr>
                      </m:sSubPr>
                      <m:e>
                        <m:r>
                          <a:rPr lang="de-DE" b="0" i="1" smtClean="0">
                            <a:latin typeface="Cambria Math"/>
                          </a:rPr>
                          <m:t>𝑊</m:t>
                        </m:r>
                      </m:e>
                      <m:sub>
                        <m:r>
                          <a:rPr lang="de-DE" b="0" i="1" smtClean="0">
                            <a:latin typeface="Cambria Math"/>
                          </a:rPr>
                          <m:t>||</m:t>
                        </m:r>
                      </m:sub>
                    </m:sSub>
                    <m:r>
                      <a:rPr lang="de-DE" b="0" i="1" smtClean="0">
                        <a:latin typeface="Cambria Math"/>
                      </a:rPr>
                      <m:t>(</m:t>
                    </m:r>
                    <m:r>
                      <a:rPr lang="de-DE" b="0" i="1" smtClean="0">
                        <a:latin typeface="Cambria Math"/>
                      </a:rPr>
                      <m:t>𝑠</m:t>
                    </m:r>
                    <m:r>
                      <a:rPr lang="de-DE" b="0" i="1" smtClean="0">
                        <a:latin typeface="Cambria Math"/>
                      </a:rPr>
                      <m:t>)</m:t>
                    </m:r>
                  </m:oMath>
                </a14:m>
                <a:r>
                  <a:rPr lang="en-US" dirty="0" smtClean="0"/>
                  <a:t>[V/</a:t>
                </a:r>
                <a:r>
                  <a:rPr lang="en-US" dirty="0" err="1" smtClean="0"/>
                  <a:t>pC</a:t>
                </a:r>
                <a:r>
                  <a:rPr lang="en-US" dirty="0" smtClean="0"/>
                  <a:t>]</a:t>
                </a:r>
                <a:endParaRPr lang="en-US" dirty="0"/>
              </a:p>
            </p:txBody>
          </p:sp>
        </mc:Choice>
        <mc:Fallback xmlns="">
          <p:sp>
            <p:nvSpPr>
              <p:cNvPr id="6" name="TextBox 5"/>
              <p:cNvSpPr txBox="1">
                <a:spLocks noRot="1" noChangeAspect="1" noMove="1" noResize="1" noEditPoints="1" noAdjustHandles="1" noChangeArrowheads="1" noChangeShapeType="1" noTextEdit="1"/>
              </p:cNvSpPr>
              <p:nvPr/>
            </p:nvSpPr>
            <p:spPr>
              <a:xfrm>
                <a:off x="179512" y="1844824"/>
                <a:ext cx="1389098" cy="394210"/>
              </a:xfrm>
              <a:prstGeom prst="rect">
                <a:avLst/>
              </a:prstGeom>
              <a:blipFill rotWithShape="1">
                <a:blip r:embed="rId3"/>
                <a:stretch>
                  <a:fillRect t="-6250" r="-3947" b="-2031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7020272" y="6053813"/>
                <a:ext cx="806567" cy="369332"/>
              </a:xfrm>
              <a:prstGeom prst="rect">
                <a:avLst/>
              </a:prstGeom>
              <a:noFill/>
            </p:spPr>
            <p:txBody>
              <a:bodyPr wrap="none" rtlCol="0">
                <a:spAutoFit/>
              </a:bodyPr>
              <a:lstStyle/>
              <a:p>
                <a14:m>
                  <m:oMath xmlns:m="http://schemas.openxmlformats.org/officeDocument/2006/math">
                    <m:r>
                      <a:rPr lang="de-DE" b="0" i="1" smtClean="0">
                        <a:latin typeface="Cambria Math"/>
                      </a:rPr>
                      <m:t>𝑠</m:t>
                    </m:r>
                  </m:oMath>
                </a14:m>
                <a:r>
                  <a:rPr lang="en-US" dirty="0" smtClean="0"/>
                  <a:t>[mm]</a:t>
                </a:r>
                <a:endParaRPr lang="en-US" dirty="0"/>
              </a:p>
            </p:txBody>
          </p:sp>
        </mc:Choice>
        <mc:Fallback xmlns="">
          <p:sp>
            <p:nvSpPr>
              <p:cNvPr id="7" name="TextBox 6"/>
              <p:cNvSpPr txBox="1">
                <a:spLocks noRot="1" noChangeAspect="1" noMove="1" noResize="1" noEditPoints="1" noAdjustHandles="1" noChangeArrowheads="1" noChangeShapeType="1" noTextEdit="1"/>
              </p:cNvSpPr>
              <p:nvPr/>
            </p:nvSpPr>
            <p:spPr>
              <a:xfrm>
                <a:off x="7020272" y="6053813"/>
                <a:ext cx="806567" cy="369332"/>
              </a:xfrm>
              <a:prstGeom prst="rect">
                <a:avLst/>
              </a:prstGeom>
              <a:blipFill rotWithShape="1">
                <a:blip r:embed="rId4"/>
                <a:stretch>
                  <a:fillRect t="-8197" r="-6061" b="-24590"/>
                </a:stretch>
              </a:blipFill>
            </p:spPr>
            <p:txBody>
              <a:bodyPr/>
              <a:lstStyle/>
              <a:p>
                <a:r>
                  <a:rPr lang="en-US">
                    <a:noFill/>
                  </a:rPr>
                  <a:t> </a:t>
                </a:r>
              </a:p>
            </p:txBody>
          </p:sp>
        </mc:Fallback>
      </mc:AlternateContent>
    </p:spTree>
    <p:extLst>
      <p:ext uri="{BB962C8B-B14F-4D97-AF65-F5344CB8AC3E}">
        <p14:creationId xmlns:p14="http://schemas.microsoft.com/office/powerpoint/2010/main" val="30924241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1040</Words>
  <Application>Microsoft Office PowerPoint</Application>
  <PresentationFormat>On-screen Show (4:3)</PresentationFormat>
  <Paragraphs>139</Paragraphs>
  <Slides>21</Slides>
  <Notes>0</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Office Theme</vt:lpstr>
      <vt:lpstr>A Short ECHO Manual  for Rectangular Structures</vt:lpstr>
      <vt:lpstr> Contents</vt:lpstr>
      <vt:lpstr>1. Create geometry file.</vt:lpstr>
      <vt:lpstr>PowerPoint Presentation</vt:lpstr>
      <vt:lpstr>2. Check and correct Geometry with Windows GUI version (if possible)</vt:lpstr>
      <vt:lpstr>PowerPoint Presentation</vt:lpstr>
      <vt:lpstr>3. Prepare files for console version.</vt:lpstr>
      <vt:lpstr>PowerPoint Presentation</vt:lpstr>
      <vt:lpstr>4. Calculate symmetric modes.</vt:lpstr>
      <vt:lpstr>5. Post-processing for longitudinal and quadrupole wakes on axis.</vt:lpstr>
      <vt:lpstr>PowerPoint Presentation</vt:lpstr>
      <vt:lpstr>PowerPoint Presentation</vt:lpstr>
      <vt:lpstr>PowerPoint Presentation</vt:lpstr>
      <vt:lpstr>6. Calculate antisymmetric modes.</vt:lpstr>
      <vt:lpstr>7. Post-processing for dipole wake on axis.</vt:lpstr>
      <vt:lpstr>PowerPoint Presentation</vt:lpstr>
      <vt:lpstr>PowerPoint Presentation</vt:lpstr>
      <vt:lpstr>PowerPoint Presentation</vt:lpstr>
      <vt:lpstr>8. Post-processing for longitudinal and lransverse wakes for arbitrary offsets.</vt:lpstr>
      <vt:lpstr>PowerPoint Presentation</vt:lpstr>
      <vt:lpstr>8.Accuracy Check.</vt:lpstr>
    </vt:vector>
  </TitlesOfParts>
  <Company>DESY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Short ECHO Manual  for Rectangular Structures</dc:title>
  <dc:creator>Zagorodnov, Igor</dc:creator>
  <cp:lastModifiedBy>Zagorodnov, Igor</cp:lastModifiedBy>
  <cp:revision>23</cp:revision>
  <dcterms:created xsi:type="dcterms:W3CDTF">2016-04-01T12:30:18Z</dcterms:created>
  <dcterms:modified xsi:type="dcterms:W3CDTF">2016-04-01T17:30:38Z</dcterms:modified>
</cp:coreProperties>
</file>